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rtl="0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2" r:id="rId20"/>
    <p:sldId id="273" r:id="rId21"/>
    <p:sldId id="271" r:id="rId18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presProps" Target="presProps.xml"/><Relationship Id="rId20" Type="http://schemas.openxmlformats.org/officeDocument/2006/relationships/slide" Target="slides/slide17.xml"/><Relationship Id="rId21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7A297B7-21DC-4431-8B34-326E483E5F8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3AF73D0-0833-470D-B4AB-521ABDDE273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Double-tap to edit the title text format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Double-tap to edit the outline text format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image" Target="../media/image3.jpeg"/><Relationship Id="rId4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image" Target="../media/image5.jpeg"/><Relationship Id="rId3" Type="http://schemas.openxmlformats.org/officeDocument/2006/relationships/image" Target="../media/image6.jpeg"/><Relationship Id="rId4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image" Target="../media/image8.jpeg"/><Relationship Id="rId3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jpeg"/><Relationship Id="rId5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16.jpeg"/><Relationship Id="rId2" Type="http://schemas.openxmlformats.org/officeDocument/2006/relationships/image" Target="../media/image17.png"/><Relationship Id="rId3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19.jpeg"/><Relationship Id="rId2" Type="http://schemas.openxmlformats.org/officeDocument/2006/relationships/image" Target="../media/image20.png"/><Relationship Id="rId3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image" Target="../media/image25.png"/><Relationship Id="rId3" Type="http://schemas.openxmlformats.org/officeDocument/2006/relationships/image" Target="../media/image26.jpeg"/><Relationship Id="rId4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28.jpeg"/><Relationship Id="rId2" Type="http://schemas.openxmlformats.org/officeDocument/2006/relationships/image" Target="../media/image29.jpeg"/><Relationship Id="rId3" Type="http://schemas.openxmlformats.org/officeDocument/2006/relationships/image" Target="../media/image30.jpeg"/><Relationship Id="rId4" Type="http://schemas.openxmlformats.org/officeDocument/2006/relationships/image" Target="../media/image31.jpeg"/><Relationship Id="rId5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2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e4e7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AutoShape 3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dfdf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7" name="Picture 4" descr="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8" name="Connector 5"/>
          <p:cNvCxnSpPr/>
          <p:nvPr/>
        </p:nvCxnSpPr>
        <p:spPr>
          <a:xfrm>
            <a:off x="0" y="18720"/>
            <a:ext cx="12192120" cy="360"/>
          </a:xfrm>
          <a:prstGeom prst="straightConnector1">
            <a:avLst/>
          </a:prstGeom>
          <a:ln w="38100">
            <a:solidFill>
              <a:srgbClr val="295db1"/>
            </a:solidFill>
            <a:round/>
          </a:ln>
        </p:spPr>
      </p:cxnSp>
      <p:cxnSp>
        <p:nvCxnSpPr>
          <p:cNvPr id="9" name="Connector 6"/>
          <p:cNvCxnSpPr/>
          <p:nvPr/>
        </p:nvCxnSpPr>
        <p:spPr>
          <a:xfrm>
            <a:off x="914400" y="923760"/>
            <a:ext cx="457560" cy="360"/>
          </a:xfrm>
          <a:prstGeom prst="straightConnector1">
            <a:avLst/>
          </a:prstGeom>
          <a:ln w="19050">
            <a:solidFill>
              <a:srgbClr val="37bdf7"/>
            </a:solidFill>
            <a:round/>
          </a:ln>
        </p:spPr>
      </p:cxnSp>
      <p:cxnSp>
        <p:nvCxnSpPr>
          <p:cNvPr id="10" name="Connector 7"/>
          <p:cNvCxnSpPr/>
          <p:nvPr/>
        </p:nvCxnSpPr>
        <p:spPr>
          <a:xfrm>
            <a:off x="914400" y="1148040"/>
            <a:ext cx="304920" cy="360"/>
          </a:xfrm>
          <a:prstGeom prst="straightConnector1">
            <a:avLst/>
          </a:prstGeom>
          <a:ln w="10160">
            <a:solidFill>
              <a:srgbClr val="295db1">
                <a:alpha val="30000"/>
              </a:srgbClr>
            </a:solidFill>
            <a:round/>
          </a:ln>
        </p:spPr>
      </p:cxnSp>
      <p:cxnSp>
        <p:nvCxnSpPr>
          <p:cNvPr id="11" name="Connector 8"/>
          <p:cNvCxnSpPr/>
          <p:nvPr/>
        </p:nvCxnSpPr>
        <p:spPr>
          <a:xfrm>
            <a:off x="933120" y="2809080"/>
            <a:ext cx="360" cy="571680"/>
          </a:xfrm>
          <a:prstGeom prst="straightConnector1">
            <a:avLst/>
          </a:prstGeom>
          <a:ln w="38100">
            <a:solidFill>
              <a:srgbClr val="37bdf7"/>
            </a:solidFill>
            <a:round/>
          </a:ln>
        </p:spPr>
      </p:cxnSp>
      <p:cxnSp>
        <p:nvCxnSpPr>
          <p:cNvPr id="12" name="Connector 9"/>
          <p:cNvCxnSpPr/>
          <p:nvPr/>
        </p:nvCxnSpPr>
        <p:spPr>
          <a:xfrm>
            <a:off x="914400" y="5100120"/>
            <a:ext cx="10363320" cy="360"/>
          </a:xfrm>
          <a:prstGeom prst="straightConnector1">
            <a:avLst/>
          </a:prstGeom>
          <a:ln w="10160">
            <a:solidFill>
              <a:srgbClr val="295db1"/>
            </a:solidFill>
            <a:round/>
          </a:ln>
        </p:spPr>
      </p:cxnSp>
      <p:pic>
        <p:nvPicPr>
          <p:cNvPr id="13" name="Picture 10" descr=""/>
          <p:cNvPicPr/>
          <p:nvPr/>
        </p:nvPicPr>
        <p:blipFill>
          <a:blip r:embed="rId2"/>
          <a:stretch/>
        </p:blipFill>
        <p:spPr>
          <a:xfrm>
            <a:off x="0" y="0"/>
            <a:ext cx="12191760" cy="37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" name="Picture 11" descr=""/>
          <p:cNvPicPr/>
          <p:nvPr/>
        </p:nvPicPr>
        <p:blipFill>
          <a:blip r:embed="rId3"/>
          <a:stretch/>
        </p:blipFill>
        <p:spPr>
          <a:xfrm>
            <a:off x="914400" y="2809080"/>
            <a:ext cx="37800" cy="571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" name="TextBox 12"/>
          <p:cNvSpPr/>
          <p:nvPr/>
        </p:nvSpPr>
        <p:spPr>
          <a:xfrm>
            <a:off x="914400" y="923400"/>
            <a:ext cx="5144400" cy="372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049"/>
              </a:lnSpc>
              <a:tabLst>
                <a:tab algn="l" pos="0"/>
              </a:tabLst>
            </a:pPr>
            <a:r>
              <a:rPr b="0" lang="en" sz="900" spc="-23" strike="noStrike" u="none">
                <a:solidFill>
                  <a:srgbClr val="2a5eb2"/>
                </a:solidFill>
                <a:uFillTx/>
                <a:latin typeface="Times New Roman"/>
              </a:rPr>
              <a:t>I N N O V </a:t>
            </a:r>
            <a:r>
              <a:rPr b="0" lang="en-US" sz="900" spc="-23" strike="noStrike" u="none">
                <a:solidFill>
                  <a:srgbClr val="2a5eb2"/>
                </a:solidFill>
                <a:uFillTx/>
                <a:latin typeface="Times New Roman"/>
              </a:rPr>
              <a:t>AT I O N  B R I E F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9751"/>
              </a:lnSpc>
              <a:spcBef>
                <a:spcPts val="3010"/>
              </a:spcBef>
              <a:tabLst>
                <a:tab algn="l" pos="0"/>
              </a:tabLst>
            </a:pPr>
            <a:r>
              <a:rPr b="0" lang="en-US" sz="8300" spc="-207" strike="noStrike" u="none">
                <a:solidFill>
                  <a:srgbClr val="2a5eb2"/>
                </a:solidFill>
                <a:uFillTx/>
                <a:latin typeface="Times New Roman"/>
              </a:rPr>
              <a:t>LegalEase</a:t>
            </a:r>
            <a:r>
              <a:rPr b="0" lang="en-US" sz="8300" spc="-48" strike="noStrike" u="none">
                <a:solidFill>
                  <a:srgbClr val="38bdf8"/>
                </a:solidFill>
                <a:uFillTx/>
                <a:latin typeface="Times New Roman"/>
              </a:rPr>
              <a:t>.</a:t>
            </a:r>
            <a:endParaRPr b="0" lang="en-US" sz="83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66760" defTabSz="914400">
              <a:lnSpc>
                <a:spcPts val="3161"/>
              </a:lnSpc>
              <a:spcBef>
                <a:spcPts val="1089"/>
              </a:spcBef>
              <a:tabLst>
                <a:tab algn="l" pos="0"/>
              </a:tabLst>
            </a:pPr>
            <a:r>
              <a:rPr b="0" lang="en-US" sz="2700" spc="-68" strike="noStrike" u="none">
                <a:solidFill>
                  <a:srgbClr val="1a1c1e"/>
                </a:solidFill>
                <a:uFillTx/>
                <a:latin typeface="Times New Roman"/>
              </a:rPr>
              <a:t>AI-Powered Legal</a:t>
            </a:r>
            <a:endParaRPr b="0" lang="en-US" sz="27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66760" defTabSz="914400">
              <a:lnSpc>
                <a:spcPts val="3161"/>
              </a:lnSpc>
              <a:spcBef>
                <a:spcPts val="221"/>
              </a:spcBef>
              <a:tabLst>
                <a:tab algn="l" pos="0"/>
              </a:tabLst>
            </a:pPr>
            <a:r>
              <a:rPr b="0" lang="en-US" sz="2700" spc="-68" strike="noStrike" u="none">
                <a:solidFill>
                  <a:srgbClr val="1a1c1e"/>
                </a:solidFill>
                <a:uFillTx/>
                <a:latin typeface="Times New Roman"/>
              </a:rPr>
              <a:t>Document Generator</a:t>
            </a:r>
            <a:endParaRPr b="0" lang="en-US" sz="27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579"/>
              </a:lnSpc>
              <a:spcBef>
                <a:spcPts val="4090"/>
              </a:spcBef>
              <a:tabLst>
                <a:tab algn="l" pos="0"/>
              </a:tabLst>
            </a:pPr>
            <a:r>
              <a:rPr b="0" lang="en-US" sz="1350" spc="14" strike="noStrike" u="none">
                <a:solidFill>
                  <a:srgbClr val="64748b"/>
                </a:solidFill>
                <a:uFillTx/>
                <a:latin typeface="Times New Roman"/>
              </a:rPr>
              <a:t>An overview of LegalEase, a platform leveraging state-of-the-art</a:t>
            </a:r>
            <a:endParaRPr b="0" lang="en-US" sz="13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579"/>
              </a:lnSpc>
              <a:spcBef>
                <a:spcPts val="669"/>
              </a:spcBef>
              <a:tabLst>
                <a:tab algn="l" pos="0"/>
              </a:tabLst>
            </a:pPr>
            <a:r>
              <a:rPr b="0" lang="en-US" sz="1350" spc="14" strike="noStrike" u="none">
                <a:solidFill>
                  <a:srgbClr val="64748b"/>
                </a:solidFill>
                <a:uFillTx/>
                <a:latin typeface="Times New Roman"/>
              </a:rPr>
              <a:t>Generative AI to simplify the creation of customizable, accurate, and</a:t>
            </a:r>
            <a:endParaRPr b="0" lang="en-US" sz="13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" name="TextBox 13"/>
          <p:cNvSpPr/>
          <p:nvPr/>
        </p:nvSpPr>
        <p:spPr>
          <a:xfrm>
            <a:off x="914400" y="4726800"/>
            <a:ext cx="1950480" cy="85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579"/>
              </a:lnSpc>
              <a:tabLst>
                <a:tab algn="l" pos="0"/>
              </a:tabLst>
            </a:pPr>
            <a:r>
              <a:rPr b="0" lang="en" sz="1350" spc="34" strike="noStrike" u="none">
                <a:solidFill>
                  <a:srgbClr val="64748b"/>
                </a:solidFill>
                <a:uFillTx/>
                <a:latin typeface="Times New Roman"/>
              </a:rPr>
              <a:t>editable legal documents.</a:t>
            </a:r>
            <a:endParaRPr b="0" lang="en-US" sz="13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230"/>
              </a:lnSpc>
              <a:spcBef>
                <a:spcPts val="3949"/>
              </a:spcBef>
              <a:tabLst>
                <a:tab algn="l" pos="0"/>
              </a:tabLst>
            </a:pPr>
            <a:r>
              <a:rPr b="0" lang="en-US" sz="1050" spc="26" strike="noStrike" u="none">
                <a:solidFill>
                  <a:srgbClr val="2a5eb2"/>
                </a:solidFill>
                <a:uFillTx/>
                <a:latin typeface="Times New Roman"/>
              </a:rPr>
              <a:t>CORE MISSION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" name="TextBox 14"/>
          <p:cNvSpPr/>
          <p:nvPr/>
        </p:nvSpPr>
        <p:spPr>
          <a:xfrm>
            <a:off x="4202280" y="7583040"/>
            <a:ext cx="8522640" cy="33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26359"/>
              </a:lnSpc>
              <a:tabLst>
                <a:tab algn="l" pos="0"/>
              </a:tabLst>
            </a:pPr>
            <a:r>
              <a:rPr b="0" lang="en" sz="22500" spc="-561" strike="noStrike" u="none">
                <a:solidFill>
                  <a:srgbClr val="2a5eb2"/>
                </a:solidFill>
                <a:uFillTx/>
                <a:latin typeface="Times New Roman"/>
              </a:rPr>
              <a:t>LEGA</a:t>
            </a:r>
            <a:r>
              <a:rPr b="0" lang="en-US" sz="22500" spc="-561" strike="noStrike" u="none">
                <a:solidFill>
                  <a:srgbClr val="2a5eb2"/>
                </a:solidFill>
                <a:uFillTx/>
                <a:latin typeface="Times New Roman"/>
              </a:rPr>
              <a:t>L</a:t>
            </a:r>
            <a:endParaRPr b="0" lang="en-US" sz="22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" name="TextBox 15"/>
          <p:cNvSpPr/>
          <p:nvPr/>
        </p:nvSpPr>
        <p:spPr>
          <a:xfrm>
            <a:off x="10177920" y="5674320"/>
            <a:ext cx="1104480" cy="10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" sz="750" spc="-17" strike="noStrike" u="none">
                <a:solidFill>
                  <a:srgbClr val="64748b"/>
                </a:solidFill>
                <a:uFillTx/>
                <a:latin typeface="Times New Roman"/>
              </a:rPr>
              <a:t>SYSTEM STATUS: ACTIVE</a:t>
            </a:r>
            <a:endParaRPr b="0" lang="en-US" sz="7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" name="TextBox 16"/>
          <p:cNvSpPr/>
          <p:nvPr/>
        </p:nvSpPr>
        <p:spPr>
          <a:xfrm>
            <a:off x="10177920" y="5816520"/>
            <a:ext cx="1104480" cy="10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" sz="750" spc="-17" strike="noStrike" u="none">
                <a:solidFill>
                  <a:srgbClr val="64748b"/>
                </a:solidFill>
                <a:uFillTx/>
                <a:latin typeface="Times New Roman"/>
              </a:rPr>
              <a:t>GENAI FRAMEWORK V.2.4</a:t>
            </a:r>
            <a:endParaRPr b="0" lang="en-US" sz="7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" name="TextBox 17"/>
          <p:cNvSpPr/>
          <p:nvPr/>
        </p:nvSpPr>
        <p:spPr>
          <a:xfrm>
            <a:off x="914400" y="5699880"/>
            <a:ext cx="5605560" cy="22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" sz="1500" spc="37" strike="noStrike" u="none">
                <a:solidFill>
                  <a:srgbClr val="1a1c1e"/>
                </a:solidFill>
                <a:uFillTx/>
                <a:latin typeface="Times New Roman"/>
              </a:rPr>
              <a:t>Bridging the Gap Between Accessibility and Legal Professionalism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utoShape 2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dfdf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2" name="Picture 3" descr="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" name="Picture 4" descr=""/>
          <p:cNvPicPr/>
          <p:nvPr/>
        </p:nvPicPr>
        <p:blipFill>
          <a:blip r:embed="rId2"/>
          <a:stretch/>
        </p:blipFill>
        <p:spPr>
          <a:xfrm>
            <a:off x="5372280" y="1000800"/>
            <a:ext cx="9720" cy="4161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" name="Picture 5" descr=""/>
          <p:cNvPicPr/>
          <p:nvPr/>
        </p:nvPicPr>
        <p:blipFill>
          <a:blip r:embed="rId3"/>
          <a:stretch/>
        </p:blipFill>
        <p:spPr>
          <a:xfrm>
            <a:off x="7020720" y="4381560"/>
            <a:ext cx="8640" cy="30456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25" name="Connector 7"/>
          <p:cNvCxnSpPr/>
          <p:nvPr/>
        </p:nvCxnSpPr>
        <p:spPr>
          <a:xfrm>
            <a:off x="5376960" y="1000440"/>
            <a:ext cx="360" cy="4162320"/>
          </a:xfrm>
          <a:prstGeom prst="straightConnector1">
            <a:avLst/>
          </a:prstGeom>
          <a:ln w="10160">
            <a:solidFill>
              <a:srgbClr val="e2e7f0"/>
            </a:solidFill>
            <a:round/>
          </a:ln>
        </p:spPr>
      </p:cxnSp>
      <p:sp>
        <p:nvSpPr>
          <p:cNvPr id="26" name="AutoShape 8"/>
          <p:cNvSpPr/>
          <p:nvPr/>
        </p:nvSpPr>
        <p:spPr>
          <a:xfrm>
            <a:off x="5839560" y="2580480"/>
            <a:ext cx="5742720" cy="2581560"/>
          </a:xfrm>
          <a:prstGeom prst="rect">
            <a:avLst/>
          </a:prstGeom>
          <a:solidFill>
            <a:srgbClr val="ffffff">
              <a:alpha val="7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" name="AutoShape 9"/>
          <p:cNvSpPr/>
          <p:nvPr/>
        </p:nvSpPr>
        <p:spPr>
          <a:xfrm>
            <a:off x="5839560" y="2580480"/>
            <a:ext cx="5742720" cy="2581560"/>
          </a:xfrm>
          <a:prstGeom prst="rect">
            <a:avLst/>
          </a:prstGeom>
          <a:solidFill>
            <a:srgbClr val="295db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28" name="Connector 10"/>
          <p:cNvCxnSpPr/>
          <p:nvPr/>
        </p:nvCxnSpPr>
        <p:spPr>
          <a:xfrm>
            <a:off x="7024680" y="4381200"/>
            <a:ext cx="360" cy="305280"/>
          </a:xfrm>
          <a:prstGeom prst="straightConnector1">
            <a:avLst/>
          </a:prstGeom>
          <a:ln w="8890">
            <a:solidFill>
              <a:srgbClr val="e2e7f0"/>
            </a:solidFill>
            <a:round/>
          </a:ln>
        </p:spPr>
      </p:cxnSp>
      <p:graphicFrame>
        <p:nvGraphicFramePr>
          <p:cNvPr id="29" name="Table 11"/>
          <p:cNvGraphicFramePr/>
          <p:nvPr/>
        </p:nvGraphicFramePr>
        <p:xfrm>
          <a:off x="0" y="19080"/>
          <a:ext cx="12191760" cy="12191400"/>
        </p:xfrm>
        <a:graphic>
          <a:graphicData uri="http://schemas.openxmlformats.org/drawingml/2006/table">
            <a:tbl>
              <a:tblPr rtl="0" firstCol="0" lastCol="0" firstRow="0" lastRow="0" bandRow="0" bandCol="0"/>
              <a:tblGrid>
                <a:gridCol w="919440"/>
                <a:gridCol w="11272320"/>
              </a:tblGrid>
              <a:tr h="1766520">
                <a:tc rowSpan="2">
                  <a:txBody>
                    <a:bodyPr lIns="0" rIns="0" tIns="0" bIns="0" anchor="t">
                      <a:noAutofit/>
                    </a:bodyPr>
                    <a:p>
                      <a:pPr defTabSz="914400">
                        <a:lnSpc>
                          <a:spcPts val="0"/>
                        </a:lnSpc>
                      </a:pPr>
                      <a:endParaRPr b="0" lang="en-US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 w="10080">
                      <a:solidFill>
                        <a:srgbClr val="295db1"/>
                      </a:solidFill>
                      <a:prstDash val="solid"/>
                    </a:lnR>
                    <a:lnT w="38160">
                      <a:solidFill>
                        <a:srgbClr val="295db1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 lIns="0" rIns="0" tIns="1018440" bIns="0" anchor="t">
                      <a:noAutofit/>
                    </a:bodyPr>
                    <a:p>
                      <a:pPr marL="4915080" defTabSz="914400">
                        <a:lnSpc>
                          <a:spcPts val="1049"/>
                        </a:lnSpc>
                        <a:tabLst>
                          <a:tab algn="l" pos="0"/>
                        </a:tabLst>
                      </a:pPr>
                      <a:r>
                        <a:rPr b="0" lang="en-US" sz="800" spc="23" strike="noStrike" u="none">
                          <a:solidFill>
                            <a:srgbClr val="38bdf8"/>
                          </a:solidFill>
                          <a:uFillTx/>
                          <a:latin typeface="Times New Roman"/>
                        </a:rPr>
                        <a:t>PROJECT SCOPE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algn="r" defTabSz="914400">
                        <a:lnSpc>
                          <a:spcPct val="100000"/>
                        </a:lnSpc>
                        <a:spcBef>
                          <a:spcPts val="1860"/>
                        </a:spcBef>
                        <a:tabLst>
                          <a:tab algn="l" pos="0"/>
                        </a:tabLst>
                      </a:pPr>
                      <a:r>
                        <a:rPr b="0" lang="en-US" sz="1700" spc="45" strike="noStrike" u="none">
                          <a:solidFill>
                            <a:srgbClr val="334155"/>
                          </a:solidFill>
                          <a:uFillTx/>
                          <a:latin typeface="Times New Roman"/>
                        </a:rPr>
                        <a:t>This presentation outlines the complete </a:t>
                      </a:r>
                      <a:r>
                        <a:rPr b="0" lang="en-US" sz="1700" spc="20" strike="noStrike" u="none">
                          <a:solidFill>
                            <a:srgbClr val="2a5eb2"/>
                          </a:solidFill>
                          <a:uFillTx/>
                          <a:latin typeface="Times New Roman"/>
                        </a:rPr>
                        <a:t>architectural,</a:t>
                      </a:r>
                      <a:endParaRPr b="0" lang="en-US" sz="1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294480" defTabSz="914400">
                        <a:lnSpc>
                          <a:spcPts val="1230"/>
                        </a:lnSpc>
                        <a:spcBef>
                          <a:spcPts val="159"/>
                        </a:spcBef>
                        <a:tabLst>
                          <a:tab algn="l" pos="0"/>
                        </a:tabLst>
                      </a:pPr>
                      <a:r>
                        <a:rPr b="0" lang="en-US" sz="950" spc="-26" strike="noStrike" u="none">
                          <a:solidFill>
                            <a:srgbClr val="2a5eb2"/>
                          </a:solidFill>
                          <a:uFillTx/>
                          <a:latin typeface="Times New Roman"/>
                        </a:rPr>
                        <a:t>I N F O R M A T I O N  A R C H I T E C T U R E</a:t>
                      </a:r>
                      <a:endParaRPr b="0" lang="en-US" sz="9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algn="r" defTabSz="914400">
                        <a:lnSpc>
                          <a:spcPts val="2100"/>
                        </a:lnSpc>
                        <a:tabLst>
                          <a:tab algn="l" pos="0"/>
                        </a:tabLst>
                      </a:pPr>
                      <a:r>
                        <a:rPr b="0" lang="en-US" sz="1700" spc="45" strike="noStrike" u="none">
                          <a:solidFill>
                            <a:srgbClr val="2a5eb2"/>
                          </a:solidFill>
                          <a:uFillTx/>
                          <a:latin typeface="Times New Roman"/>
                        </a:rPr>
                        <a:t>development, and deployment</a:t>
                      </a:r>
                      <a:r>
                        <a:rPr b="0" lang="en-US" sz="1700" spc="11" strike="noStrike" u="none">
                          <a:solidFill>
                            <a:srgbClr val="334155"/>
                          </a:solidFill>
                          <a:uFillTx/>
                          <a:latin typeface="Times New Roman"/>
                        </a:rPr>
                        <a:t> blueprint for LegalEase.</a:t>
                      </a:r>
                      <a:endParaRPr b="0" lang="en-US" sz="17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ts val="8430"/>
                        </a:lnSpc>
                        <a:spcBef>
                          <a:spcPts val="391"/>
                        </a:spcBef>
                        <a:tabLst>
                          <a:tab algn="l" pos="0"/>
                        </a:tabLst>
                      </a:pPr>
                      <a:r>
                        <a:rPr b="0" lang="en-US" sz="7100" spc="-179" strike="noStrike" u="none">
                          <a:solidFill>
                            <a:srgbClr val="2a5eb2"/>
                          </a:solidFill>
                          <a:uFillTx/>
                          <a:latin typeface="Times New Roman"/>
                        </a:rPr>
                        <a:t>Table of </a:t>
                      </a:r>
                      <a:r>
                        <a:rPr b="0" lang="en-US" sz="7100" spc="-179" strike="noStrike" u="none">
                          <a:solidFill>
                            <a:srgbClr val="2a5eb2"/>
                          </a:solidFill>
                          <a:uFillTx/>
                          <a:latin typeface="Times New Roman"/>
                        </a:rPr>
                        <a:t>	</a:t>
                      </a:r>
                      <a:r>
                        <a:rPr b="0" lang="en-US" sz="800" strike="noStrike" u="none">
                          <a:solidFill>
                            <a:srgbClr val="2a5eb2"/>
                          </a:solidFill>
                          <a:uFillTx/>
                          <a:latin typeface="Times New Roman"/>
                        </a:rPr>
                        <a:t>CORE STRATEGIC PATH</a:t>
                      </a:r>
                      <a:endParaRPr b="0" lang="en-US" sz="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ts val="8430"/>
                        </a:lnSpc>
                        <a:tabLst>
                          <a:tab algn="l" pos="0"/>
                        </a:tabLst>
                      </a:pPr>
                      <a:r>
                        <a:rPr b="0" lang="en-US" sz="7100" spc="-179" strike="noStrike" u="none">
                          <a:solidFill>
                            <a:srgbClr val="2a5eb2"/>
                          </a:solidFill>
                          <a:uFillTx/>
                          <a:latin typeface="Times New Roman"/>
                        </a:rPr>
                        <a:t>Contents </a:t>
                      </a:r>
                      <a:r>
                        <a:rPr b="0" lang="en-US" sz="7100" spc="-179" strike="noStrike" u="none">
                          <a:solidFill>
                            <a:srgbClr val="2a5eb2"/>
                          </a:solidFill>
                          <a:uFillTx/>
                          <a:latin typeface="Times New Roman"/>
                        </a:rPr>
                        <a:t>	</a:t>
                      </a:r>
                      <a:r>
                        <a:rPr b="0" lang="en-US" sz="1250" spc="34" strike="noStrike" u="none">
                          <a:solidFill>
                            <a:srgbClr val="1a1c1e"/>
                          </a:solidFill>
                          <a:uFillTx/>
                          <a:latin typeface="Times New Roman"/>
                        </a:rPr>
                        <a:t>from concept to deployment across six</a:t>
                      </a:r>
                      <a:endParaRPr b="0" lang="en-US" sz="12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algn="r" defTabSz="914400">
                        <a:lnSpc>
                          <a:spcPts val="1579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34" strike="noStrike" u="none">
                          <a:solidFill>
                            <a:srgbClr val="1a1c1e"/>
                          </a:solidFill>
                          <a:uFillTx/>
                          <a:latin typeface="Times New Roman"/>
                        </a:rPr>
                        <a:t>core activities and three major milestones.</a:t>
                      </a:r>
                      <a:endParaRPr b="0" lang="en-US" sz="12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algn="r" defTabSz="914400">
                        <a:lnSpc>
                          <a:spcPts val="1579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6" strike="noStrike" u="none">
                          <a:solidFill>
                            <a:srgbClr val="1a1c1e"/>
                          </a:solidFill>
                          <a:uFillTx/>
                          <a:latin typeface="Times New Roman"/>
                        </a:rPr>
                        <a:t>A structured walkthrough of the project</a:t>
                      </a:r>
                      <a:endParaRPr b="0" lang="en-US" sz="12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5334120" defTabSz="914400">
                        <a:lnSpc>
                          <a:spcPct val="100000"/>
                        </a:lnSpc>
                        <a:spcBef>
                          <a:spcPts val="6279"/>
                        </a:spcBef>
                        <a:tabLst>
                          <a:tab algn="l" pos="0"/>
                        </a:tabLst>
                      </a:pPr>
                      <a:r>
                        <a:rPr b="0" lang="en-US" sz="2150" spc="57" strike="noStrike" u="none">
                          <a:solidFill>
                            <a:srgbClr val="2a5eb2"/>
                          </a:solidFill>
                          <a:uFillTx/>
                          <a:latin typeface="Times New Roman"/>
                        </a:rPr>
                        <a:t>06 </a:t>
                      </a:r>
                      <a:r>
                        <a:rPr b="0" lang="en-US" sz="2150" spc="57" strike="noStrike" u="none">
                          <a:solidFill>
                            <a:srgbClr val="2a5eb2"/>
                          </a:solidFill>
                          <a:uFillTx/>
                          <a:latin typeface="Times New Roman"/>
                        </a:rPr>
                        <a:t>	</a:t>
                      </a:r>
                      <a:r>
                        <a:rPr b="0" lang="en-US" sz="2150" spc="57" strike="noStrike" u="none">
                          <a:solidFill>
                            <a:srgbClr val="2a5eb2"/>
                          </a:solidFill>
                          <a:uFillTx/>
                          <a:latin typeface="Times New Roman"/>
                        </a:rPr>
                        <a:t>03</a:t>
                      </a:r>
                      <a:endParaRPr b="0" lang="en-US" sz="21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5334120" defTabSz="914400">
                        <a:lnSpc>
                          <a:spcPct val="100000"/>
                        </a:lnSpc>
                        <a:spcBef>
                          <a:spcPts val="179"/>
                        </a:spcBef>
                        <a:tabLst>
                          <a:tab algn="l" pos="0"/>
                        </a:tabLst>
                      </a:pPr>
                      <a:r>
                        <a:rPr b="0" lang="en-US" sz="650" spc="-17" strike="noStrike" u="none">
                          <a:solidFill>
                            <a:srgbClr val="94a3b8"/>
                          </a:solidFill>
                          <a:uFillTx/>
                          <a:latin typeface="Times New Roman"/>
                        </a:rPr>
                        <a:t>ACTIVITIES </a:t>
                      </a:r>
                      <a:r>
                        <a:rPr b="0" lang="en-US" sz="650" spc="-17" strike="noStrike" u="none">
                          <a:solidFill>
                            <a:srgbClr val="94a3b8"/>
                          </a:solidFill>
                          <a:uFillTx/>
                          <a:latin typeface="Times New Roman"/>
                        </a:rPr>
                        <a:t>	</a:t>
                      </a:r>
                      <a:r>
                        <a:rPr b="0" lang="en-US" sz="650" spc="-17" strike="noStrike" u="none">
                          <a:solidFill>
                            <a:srgbClr val="94a3b8"/>
                          </a:solidFill>
                          <a:uFillTx/>
                          <a:latin typeface="Times New Roman"/>
                        </a:rPr>
                        <a:t>MILESTONES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10080">
                      <a:solidFill>
                        <a:srgbClr val="295db1"/>
                      </a:solidFill>
                      <a:prstDash val="solid"/>
                    </a:lnL>
                    <a:lnR>
                      <a:noFill/>
                    </a:lnR>
                    <a:lnT w="38160">
                      <a:solidFill>
                        <a:srgbClr val="295db1"/>
                      </a:solidFill>
                      <a:prstDash val="solid"/>
                    </a:lnT>
                    <a:lnB w="10080">
                      <a:solidFill>
                        <a:srgbClr val="e2e7f0"/>
                      </a:solidFill>
                      <a:prstDash val="solid"/>
                    </a:lnB>
                    <a:solidFill>
                      <a:srgbClr val="f2f4f5"/>
                    </a:solidFill>
                  </a:tcPr>
                </a:tc>
              </a:tr>
              <a:tr h="1287720"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fc9ff"/>
                    </a:solidFill>
                  </a:tcPr>
                </a:tc>
                <a:tc>
                  <a:txBody>
                    <a:bodyPr lIns="0" rIns="0" tIns="46800" bIns="0" anchor="t">
                      <a:noAutofit/>
                    </a:bodyPr>
                    <a:p>
                      <a:pPr defTabSz="914400">
                        <a:lnSpc>
                          <a:spcPts val="3161"/>
                        </a:lnSpc>
                        <a:tabLst>
                          <a:tab algn="l" pos="0"/>
                        </a:tabLst>
                      </a:pPr>
                      <a:r>
                        <a:rPr b="0" lang="en-US" sz="950" spc="11" strike="noStrike" u="none">
                          <a:solidFill>
                            <a:srgbClr val="475569"/>
                          </a:solidFill>
                          <a:uFillTx/>
                          <a:latin typeface="Times New Roman"/>
                        </a:rPr>
                        <a:t>Legal Technologist v1.0 </a:t>
                      </a:r>
                      <a:r>
                        <a:rPr b="0" lang="en-US" sz="950" spc="11" strike="noStrike" u="none">
                          <a:solidFill>
                            <a:srgbClr val="475569"/>
                          </a:solidFill>
                          <a:uFillTx/>
                          <a:latin typeface="Times New Roman"/>
                        </a:rPr>
                        <a:t>	</a:t>
                      </a:r>
                      <a:r>
                        <a:rPr b="0" lang="en-US" sz="950" strike="noStrike" u="none">
                          <a:solidFill>
                            <a:srgbClr val="475569"/>
                          </a:solidFill>
                          <a:uFillTx/>
                          <a:latin typeface="Times New Roman"/>
                        </a:rPr>
                        <a:t>Project Blueprint </a:t>
                      </a:r>
                      <a:r>
                        <a:rPr b="0" lang="en-US" sz="950" strike="noStrike" u="none">
                          <a:solidFill>
                            <a:srgbClr val="475569"/>
                          </a:solidFill>
                          <a:uFillTx/>
                          <a:latin typeface="Times New Roman"/>
                        </a:rPr>
                        <a:t>	</a:t>
                      </a:r>
                      <a:r>
                        <a:rPr b="0" lang="en-US" sz="2600" strike="noStrike" u="none">
                          <a:solidFill>
                            <a:srgbClr val="2a5eb2"/>
                          </a:solidFill>
                          <a:uFillTx/>
                          <a:latin typeface="Times New Roman"/>
                        </a:rPr>
                        <a:t>AGENDA</a:t>
                      </a:r>
                      <a:endParaRPr b="0" lang="en-US" sz="26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17640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650" spc="17" strike="noStrike" u="none">
                          <a:solidFill>
                            <a:srgbClr val="94a3b8"/>
                          </a:solidFill>
                          <a:uFillTx/>
                          <a:latin typeface="Times New Roman"/>
                        </a:rPr>
                        <a:t>M </a:t>
                      </a:r>
                      <a:r>
                        <a:rPr b="0" lang="en-US" sz="650" spc="17" strike="noStrike" u="none">
                          <a:solidFill>
                            <a:srgbClr val="94a3b8"/>
                          </a:solidFill>
                          <a:uFillTx/>
                          <a:latin typeface="Times New Roman"/>
                        </a:rPr>
                        <a:t>	</a:t>
                      </a:r>
                      <a:r>
                        <a:rPr b="0" lang="en-US" sz="650" spc="9" strike="noStrike" u="none">
                          <a:solidFill>
                            <a:srgbClr val="94a3b8"/>
                          </a:solidFill>
                          <a:uFillTx/>
                          <a:latin typeface="Times New Roman"/>
                        </a:rPr>
                        <a:t>PROTOCOL</a:t>
                      </a:r>
                      <a:endParaRPr b="0" lang="en-US" sz="6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>
                    <a:lnL w="10080">
                      <a:solidFill>
                        <a:srgbClr val="295db1"/>
                      </a:solidFill>
                      <a:prstDash val="solid"/>
                    </a:lnL>
                    <a:lnR>
                      <a:noFill/>
                    </a:lnR>
                    <a:lnT w="10080">
                      <a:solidFill>
                        <a:srgbClr val="e2e7f0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2f4f5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AutoShape 2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2f4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" name="AutoShape 3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dfdf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32" name="Picture 4" descr="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" name="AutoShape 5"/>
          <p:cNvSpPr/>
          <p:nvPr/>
        </p:nvSpPr>
        <p:spPr>
          <a:xfrm>
            <a:off x="0" y="1905120"/>
            <a:ext cx="12191760" cy="3047760"/>
          </a:xfrm>
          <a:prstGeom prst="rect">
            <a:avLst/>
          </a:prstGeom>
          <a:solidFill>
            <a:srgbClr val="ffffff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34" name="Connector 6"/>
          <p:cNvCxnSpPr/>
          <p:nvPr/>
        </p:nvCxnSpPr>
        <p:spPr>
          <a:xfrm>
            <a:off x="0" y="1909800"/>
            <a:ext cx="12192120" cy="360"/>
          </a:xfrm>
          <a:prstGeom prst="straightConnector1">
            <a:avLst/>
          </a:prstGeom>
          <a:ln w="10160">
            <a:solidFill>
              <a:srgbClr val="ffffff">
                <a:alpha val="20000"/>
              </a:srgbClr>
            </a:solidFill>
            <a:round/>
          </a:ln>
        </p:spPr>
      </p:cxnSp>
      <p:cxnSp>
        <p:nvCxnSpPr>
          <p:cNvPr id="35" name="Connector 7"/>
          <p:cNvCxnSpPr/>
          <p:nvPr/>
        </p:nvCxnSpPr>
        <p:spPr>
          <a:xfrm>
            <a:off x="0" y="4947840"/>
            <a:ext cx="12192120" cy="360"/>
          </a:xfrm>
          <a:prstGeom prst="straightConnector1">
            <a:avLst/>
          </a:prstGeom>
          <a:ln w="10160">
            <a:solidFill>
              <a:srgbClr val="ffffff">
                <a:alpha val="20000"/>
              </a:srgbClr>
            </a:solidFill>
            <a:round/>
          </a:ln>
        </p:spPr>
      </p:cxnSp>
      <p:cxnSp>
        <p:nvCxnSpPr>
          <p:cNvPr id="36" name="Connector 8"/>
          <p:cNvCxnSpPr/>
          <p:nvPr/>
        </p:nvCxnSpPr>
        <p:spPr>
          <a:xfrm>
            <a:off x="1228680" y="1914840"/>
            <a:ext cx="360" cy="3028320"/>
          </a:xfrm>
          <a:prstGeom prst="straightConnector1">
            <a:avLst/>
          </a:prstGeom>
          <a:ln w="19050">
            <a:solidFill>
              <a:srgbClr val="295db1">
                <a:alpha val="40000"/>
              </a:srgbClr>
            </a:solidFill>
            <a:round/>
          </a:ln>
        </p:spPr>
      </p:cxnSp>
      <p:cxnSp>
        <p:nvCxnSpPr>
          <p:cNvPr id="37" name="Connector 9"/>
          <p:cNvCxnSpPr/>
          <p:nvPr/>
        </p:nvCxnSpPr>
        <p:spPr>
          <a:xfrm>
            <a:off x="5638680" y="4060080"/>
            <a:ext cx="914760" cy="360"/>
          </a:xfrm>
          <a:prstGeom prst="straightConnector1">
            <a:avLst/>
          </a:prstGeom>
          <a:ln w="38100">
            <a:solidFill>
              <a:srgbClr val="295db1"/>
            </a:solidFill>
            <a:round/>
          </a:ln>
        </p:spPr>
      </p:cxnSp>
      <p:cxnSp>
        <p:nvCxnSpPr>
          <p:cNvPr id="38" name="Connector 10"/>
          <p:cNvCxnSpPr/>
          <p:nvPr/>
        </p:nvCxnSpPr>
        <p:spPr>
          <a:xfrm>
            <a:off x="9954000" y="6319440"/>
            <a:ext cx="457560" cy="360"/>
          </a:xfrm>
          <a:prstGeom prst="straightConnector1">
            <a:avLst/>
          </a:prstGeom>
          <a:ln w="10160">
            <a:solidFill>
              <a:srgbClr val="295db1">
                <a:alpha val="30000"/>
              </a:srgbClr>
            </a:solidFill>
            <a:round/>
          </a:ln>
        </p:spPr>
      </p:cxnSp>
      <p:pic>
        <p:nvPicPr>
          <p:cNvPr id="39" name="Picture 11" descr=""/>
          <p:cNvPicPr/>
          <p:nvPr/>
        </p:nvPicPr>
        <p:blipFill>
          <a:blip r:embed="rId2"/>
          <a:stretch/>
        </p:blipFill>
        <p:spPr>
          <a:xfrm>
            <a:off x="1219320" y="1915200"/>
            <a:ext cx="18720" cy="3027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" name="TextBox 12"/>
          <p:cNvSpPr/>
          <p:nvPr/>
        </p:nvSpPr>
        <p:spPr>
          <a:xfrm>
            <a:off x="609480" y="6051600"/>
            <a:ext cx="2071080" cy="35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131"/>
              </a:lnSpc>
              <a:tabLst>
                <a:tab algn="l" pos="0"/>
              </a:tabLst>
            </a:pPr>
            <a:r>
              <a:rPr b="1" lang="en" sz="750" spc="17" strike="noStrike" u="none">
                <a:solidFill>
                  <a:srgbClr val="2a5eb2"/>
                </a:solidFill>
                <a:uFillTx/>
                <a:latin typeface="Times New Roman"/>
              </a:rPr>
              <a:t>S Y S T E M  S T A T U S</a:t>
            </a:r>
            <a:endParaRPr b="0" lang="en-US" sz="7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361"/>
              </a:lnSpc>
              <a:spcBef>
                <a:spcPts val="278"/>
              </a:spcBef>
              <a:tabLst>
                <a:tab algn="l" pos="0"/>
              </a:tabLst>
            </a:pPr>
            <a:r>
              <a:rPr b="1" lang="en-US" sz="900" spc="3" strike="noStrike" u="none">
                <a:solidFill>
                  <a:srgbClr val="1a1c1e"/>
                </a:solidFill>
                <a:uFillTx/>
                <a:latin typeface="Times New Roman"/>
              </a:rPr>
              <a:t>PHASE_01 // ARCHITECTURAL_INIT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" name="TextBox 13"/>
          <p:cNvSpPr/>
          <p:nvPr/>
        </p:nvSpPr>
        <p:spPr>
          <a:xfrm>
            <a:off x="3787920" y="12585600"/>
            <a:ext cx="5159520" cy="574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45210"/>
              </a:lnSpc>
              <a:tabLst>
                <a:tab algn="l" pos="0"/>
              </a:tabLst>
            </a:pPr>
            <a:r>
              <a:rPr b="1" lang="en" sz="30000" strike="noStrike" u="none">
                <a:solidFill>
                  <a:srgbClr val="2a5eb2"/>
                </a:solidFill>
                <a:uFillTx/>
                <a:latin typeface="Times New Roman"/>
              </a:rPr>
              <a:t>0</a:t>
            </a:r>
            <a:r>
              <a:rPr b="1" lang="en-US" sz="30000" strike="noStrike" u="none">
                <a:solidFill>
                  <a:srgbClr val="2a5eb2"/>
                </a:solidFill>
                <a:uFillTx/>
                <a:latin typeface="Times New Roman"/>
              </a:rPr>
              <a:t>1</a:t>
            </a:r>
            <a:endParaRPr b="0" lang="en-US" sz="30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2" name="TextBox 14"/>
          <p:cNvSpPr/>
          <p:nvPr/>
        </p:nvSpPr>
        <p:spPr>
          <a:xfrm>
            <a:off x="10558800" y="6230520"/>
            <a:ext cx="1010520" cy="17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" sz="900" spc="23" strike="noStrike" u="none">
                <a:solidFill>
                  <a:srgbClr val="1a1c1e"/>
                </a:solidFill>
                <a:uFillTx/>
                <a:latin typeface="Times New Roman"/>
              </a:rPr>
              <a:t>SECTION 01-A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" name="TextBox 15"/>
          <p:cNvSpPr/>
          <p:nvPr/>
        </p:nvSpPr>
        <p:spPr>
          <a:xfrm>
            <a:off x="5262840" y="1905120"/>
            <a:ext cx="162396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" sz="1500" spc="20" strike="noStrike" u="none">
                <a:solidFill>
                  <a:srgbClr val="2a5eb2"/>
                </a:solidFill>
                <a:uFillTx/>
                <a:latin typeface="Times New Roman"/>
              </a:rPr>
              <a:t>C H A P T E R  0 1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" name="TextBox 16"/>
          <p:cNvSpPr/>
          <p:nvPr/>
        </p:nvSpPr>
        <p:spPr>
          <a:xfrm>
            <a:off x="3395880" y="4324320"/>
            <a:ext cx="539604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" sz="1500" spc="37" strike="noStrike" u="none">
                <a:solidFill>
                  <a:srgbClr val="64748b"/>
                </a:solidFill>
                <a:uFillTx/>
                <a:latin typeface="Times New Roman"/>
              </a:rPr>
              <a:t>Demonstrating how LegalEase solves legal document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" name="TextBox 17"/>
          <p:cNvSpPr/>
          <p:nvPr/>
        </p:nvSpPr>
        <p:spPr>
          <a:xfrm>
            <a:off x="2933640" y="4637880"/>
            <a:ext cx="632412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" sz="1500" spc="37" strike="noStrike" u="none">
                <a:solidFill>
                  <a:srgbClr val="64748b"/>
                </a:solidFill>
                <a:uFillTx/>
                <a:latin typeface="Times New Roman"/>
              </a:rPr>
              <a:t>generation challenges for startups, freelancers, and landlords.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" name="TextBox 18"/>
          <p:cNvSpPr/>
          <p:nvPr/>
        </p:nvSpPr>
        <p:spPr>
          <a:xfrm>
            <a:off x="4028400" y="2918520"/>
            <a:ext cx="4148640" cy="103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" sz="5400" spc="136" strike="noStrike" u="none">
                <a:solidFill>
                  <a:srgbClr val="2a5eb2"/>
                </a:solidFill>
                <a:uFillTx/>
                <a:latin typeface="Times New Roman"/>
              </a:rPr>
              <a:t>&amp;</a:t>
            </a:r>
            <a:r>
              <a:rPr b="1" lang="en-US" sz="5400" spc="136" strike="noStrike" u="none">
                <a:solidFill>
                  <a:srgbClr val="1a1c1e"/>
                </a:solidFill>
                <a:uFillTx/>
                <a:latin typeface="Times New Roman"/>
              </a:rPr>
              <a:t> Scenarios</a:t>
            </a:r>
            <a:endParaRPr b="0" lang="en-US" sz="5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" name="TextBox 19"/>
          <p:cNvSpPr/>
          <p:nvPr/>
        </p:nvSpPr>
        <p:spPr>
          <a:xfrm>
            <a:off x="3128040" y="2166480"/>
            <a:ext cx="5957280" cy="103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" sz="5400" spc="136" strike="noStrike" u="none">
                <a:solidFill>
                  <a:srgbClr val="1a1c1e"/>
                </a:solidFill>
                <a:uFillTx/>
                <a:latin typeface="Times New Roman"/>
              </a:rPr>
              <a:t>Project Overview</a:t>
            </a:r>
            <a:endParaRPr b="0" lang="en-US" sz="5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AutoShape 2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e4e7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49" name="Picture 3" descr="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" name="TextBox 4"/>
          <p:cNvSpPr/>
          <p:nvPr/>
        </p:nvSpPr>
        <p:spPr>
          <a:xfrm>
            <a:off x="609480" y="266760"/>
            <a:ext cx="7250040" cy="173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230"/>
              </a:lnSpc>
              <a:tabLst>
                <a:tab algn="l" pos="0"/>
              </a:tabLst>
            </a:pPr>
            <a:r>
              <a:rPr b="0" lang="en" sz="1050" spc="-26" strike="noStrike" u="none">
                <a:solidFill>
                  <a:srgbClr val="64748b"/>
                </a:solidFill>
                <a:uFillTx/>
                <a:latin typeface="Times New Roman"/>
              </a:rPr>
              <a:t>PRACTICAL USE CASES &amp; TARGET SCENARIOS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2809"/>
              </a:lnSpc>
              <a:spcBef>
                <a:spcPts val="519"/>
              </a:spcBef>
              <a:tabLst>
                <a:tab algn="l" pos="0"/>
              </a:tabLst>
            </a:pPr>
            <a:r>
              <a:rPr b="0" lang="en-US" sz="2400" spc="6" strike="noStrike" u="none">
                <a:solidFill>
                  <a:srgbClr val="1a1c1e"/>
                </a:solidFill>
                <a:uFillTx/>
                <a:latin typeface="Times New Roman"/>
              </a:rPr>
              <a:t>Real-World Application Scenarios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57760" defTabSz="914400">
              <a:lnSpc>
                <a:spcPts val="1451"/>
              </a:lnSpc>
              <a:spcBef>
                <a:spcPts val="5678"/>
              </a:spcBef>
              <a:tabLst>
                <a:tab algn="l" pos="0"/>
              </a:tabLst>
            </a:pPr>
            <a:r>
              <a:rPr b="0" i="1" lang="en-US" sz="1200" spc="31" strike="noStrike" u="none">
                <a:solidFill>
                  <a:srgbClr val="64748b"/>
                </a:solidFill>
                <a:uFillTx/>
                <a:latin typeface="Times New Roman"/>
              </a:rPr>
              <a:t>Three practical use cases showing how different target users interact with LegalEase to generate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57760" defTabSz="914400">
              <a:lnSpc>
                <a:spcPts val="1451"/>
              </a:lnSpc>
              <a:spcBef>
                <a:spcPts val="499"/>
              </a:spcBef>
              <a:tabLst>
                <a:tab algn="l" pos="0"/>
              </a:tabLst>
            </a:pPr>
            <a:r>
              <a:rPr b="0" i="1" lang="en-US" sz="1200" spc="31" strike="noStrike" u="none">
                <a:solidFill>
                  <a:srgbClr val="64748b"/>
                </a:solidFill>
                <a:uFillTx/>
                <a:latin typeface="Times New Roman"/>
              </a:rPr>
              <a:t>formal documents.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" name="TextBox 5"/>
          <p:cNvSpPr/>
          <p:nvPr/>
        </p:nvSpPr>
        <p:spPr>
          <a:xfrm>
            <a:off x="1343520" y="2651760"/>
            <a:ext cx="1368720" cy="22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" sz="1500" spc="3" strike="noStrike" u="none">
                <a:solidFill>
                  <a:srgbClr val="1a1c1e"/>
                </a:solidFill>
                <a:uFillTx/>
                <a:latin typeface="Times New Roman"/>
              </a:rPr>
              <a:t>Startup Founder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" name="TextBox 6"/>
          <p:cNvSpPr/>
          <p:nvPr/>
        </p:nvSpPr>
        <p:spPr>
          <a:xfrm>
            <a:off x="5127120" y="2651760"/>
            <a:ext cx="902520" cy="22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" sz="1500" spc="37" strike="noStrike" u="none">
                <a:solidFill>
                  <a:srgbClr val="1a1c1e"/>
                </a:solidFill>
                <a:uFillTx/>
                <a:latin typeface="Times New Roman"/>
              </a:rPr>
              <a:t>Freelancer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" name="TextBox 7"/>
          <p:cNvSpPr/>
          <p:nvPr/>
        </p:nvSpPr>
        <p:spPr>
          <a:xfrm>
            <a:off x="8459640" y="2661840"/>
            <a:ext cx="21420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zh-CN" sz="1500" strike="noStrike" u="none">
                <a:solidFill>
                  <a:srgbClr val="ffffff"/>
                </a:solidFill>
                <a:uFillTx/>
                <a:latin typeface="Calibri"/>
                <a:ea typeface="Droid Sans Fallback"/>
              </a:rPr>
              <a:t>仓✰ 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4" name="TextBox 8"/>
          <p:cNvSpPr/>
          <p:nvPr/>
        </p:nvSpPr>
        <p:spPr>
          <a:xfrm>
            <a:off x="8911440" y="2651760"/>
            <a:ext cx="746280" cy="22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" sz="1500" spc="-20" strike="noStrike" u="none">
                <a:solidFill>
                  <a:srgbClr val="1a1c1e"/>
                </a:solidFill>
                <a:uFillTx/>
                <a:latin typeface="Times New Roman"/>
              </a:rPr>
              <a:t>Landlord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" name="TextBox 9"/>
          <p:cNvSpPr/>
          <p:nvPr/>
        </p:nvSpPr>
        <p:spPr>
          <a:xfrm>
            <a:off x="848520" y="3399840"/>
            <a:ext cx="233280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049"/>
              </a:lnSpc>
              <a:tabLst>
                <a:tab algn="l" pos="0"/>
              </a:tabLst>
            </a:pPr>
            <a:r>
              <a:rPr b="0" lang="en" sz="900" spc="-23" strike="noStrike" u="none">
                <a:solidFill>
                  <a:srgbClr val="2a5eb2"/>
                </a:solidFill>
                <a:uFillTx/>
                <a:latin typeface="Times New Roman"/>
              </a:rPr>
              <a:t>NEED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609"/>
              </a:spcBef>
              <a:tabLst>
                <a:tab algn="l" pos="0"/>
              </a:tabLst>
            </a:pPr>
            <a:r>
              <a:rPr b="0" lang="en-US" sz="1100" spc="28" strike="noStrike" u="none">
                <a:solidFill>
                  <a:srgbClr val="1a1c1e"/>
                </a:solidFill>
                <a:uFillTx/>
                <a:latin typeface="Times New Roman"/>
              </a:rPr>
              <a:t>Employment Contract for a new hire.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" name="TextBox 10"/>
          <p:cNvSpPr/>
          <p:nvPr/>
        </p:nvSpPr>
        <p:spPr>
          <a:xfrm>
            <a:off x="4631760" y="3399840"/>
            <a:ext cx="248760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049"/>
              </a:lnSpc>
              <a:tabLst>
                <a:tab algn="l" pos="0"/>
              </a:tabLst>
            </a:pPr>
            <a:r>
              <a:rPr b="0" lang="en" sz="900" spc="-23" strike="noStrike" u="none">
                <a:solidFill>
                  <a:srgbClr val="2a5eb2"/>
                </a:solidFill>
                <a:uFillTx/>
                <a:latin typeface="Times New Roman"/>
              </a:rPr>
              <a:t>NEED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609"/>
              </a:spcBef>
              <a:tabLst>
                <a:tab algn="l" pos="0"/>
              </a:tabLst>
            </a:pPr>
            <a:r>
              <a:rPr b="0" lang="en-US" sz="1100" spc="14" strike="noStrike" u="none">
                <a:solidFill>
                  <a:srgbClr val="1a1c1e"/>
                </a:solidFill>
                <a:uFillTx/>
                <a:latin typeface="Times New Roman"/>
              </a:rPr>
              <a:t>Non-Disclosure Agreement (NDA) for a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7" name="TextBox 11"/>
          <p:cNvSpPr/>
          <p:nvPr/>
        </p:nvSpPr>
        <p:spPr>
          <a:xfrm>
            <a:off x="8416440" y="3399840"/>
            <a:ext cx="189576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049"/>
              </a:lnSpc>
              <a:tabLst>
                <a:tab algn="l" pos="0"/>
              </a:tabLst>
            </a:pPr>
            <a:r>
              <a:rPr b="0" lang="en" sz="900" spc="-23" strike="noStrike" u="none">
                <a:solidFill>
                  <a:srgbClr val="2a5eb2"/>
                </a:solidFill>
                <a:uFillTx/>
                <a:latin typeface="Times New Roman"/>
              </a:rPr>
              <a:t>NEED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609"/>
              </a:spcBef>
              <a:tabLst>
                <a:tab algn="l" pos="0"/>
              </a:tabLst>
            </a:pPr>
            <a:r>
              <a:rPr b="0" lang="en-US" sz="1100" spc="28" strike="noStrike" u="none">
                <a:solidFill>
                  <a:srgbClr val="1a1c1e"/>
                </a:solidFill>
                <a:uFillTx/>
                <a:latin typeface="Times New Roman"/>
              </a:rPr>
              <a:t>Residential Lease Agreement.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" name="TextBox 12"/>
          <p:cNvSpPr/>
          <p:nvPr/>
        </p:nvSpPr>
        <p:spPr>
          <a:xfrm>
            <a:off x="4631760" y="3830400"/>
            <a:ext cx="990360" cy="16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310"/>
              </a:lnSpc>
              <a:tabLst>
                <a:tab algn="l" pos="0"/>
              </a:tabLst>
            </a:pPr>
            <a:r>
              <a:rPr b="0" lang="en" sz="1100" spc="28" strike="noStrike" u="none">
                <a:solidFill>
                  <a:srgbClr val="1a1c1e"/>
                </a:solidFill>
                <a:uFillTx/>
                <a:latin typeface="Times New Roman"/>
              </a:rPr>
              <a:t>potential client.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9" name="TextBox 13"/>
          <p:cNvSpPr/>
          <p:nvPr/>
        </p:nvSpPr>
        <p:spPr>
          <a:xfrm>
            <a:off x="848520" y="4056480"/>
            <a:ext cx="43272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049"/>
              </a:lnSpc>
              <a:tabLst>
                <a:tab algn="l" pos="0"/>
              </a:tabLst>
            </a:pPr>
            <a:r>
              <a:rPr b="0" lang="en" sz="900" spc="-23" strike="noStrike" u="none">
                <a:solidFill>
                  <a:srgbClr val="2a5eb2"/>
                </a:solidFill>
                <a:uFillTx/>
                <a:latin typeface="Times New Roman"/>
              </a:rPr>
              <a:t>ACTION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0" name="TextBox 14"/>
          <p:cNvSpPr/>
          <p:nvPr/>
        </p:nvSpPr>
        <p:spPr>
          <a:xfrm>
            <a:off x="8416440" y="4056480"/>
            <a:ext cx="43416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049"/>
              </a:lnSpc>
              <a:tabLst>
                <a:tab algn="l" pos="0"/>
              </a:tabLst>
            </a:pPr>
            <a:r>
              <a:rPr b="0" lang="en" sz="900" spc="-23" strike="noStrike" u="none">
                <a:solidFill>
                  <a:srgbClr val="2a5eb2"/>
                </a:solidFill>
                <a:uFillTx/>
                <a:latin typeface="Times New Roman"/>
              </a:rPr>
              <a:t>ACTION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1" name="TextBox 15"/>
          <p:cNvSpPr/>
          <p:nvPr/>
        </p:nvSpPr>
        <p:spPr>
          <a:xfrm>
            <a:off x="848520" y="4271040"/>
            <a:ext cx="259920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270"/>
              </a:lnSpc>
              <a:tabLst>
                <a:tab algn="l" pos="0"/>
              </a:tabLst>
            </a:pPr>
            <a:r>
              <a:rPr b="0" lang="en" sz="1050" spc="26" strike="noStrike" u="none">
                <a:solidFill>
                  <a:srgbClr val="64748b"/>
                </a:solidFill>
                <a:uFillTx/>
                <a:latin typeface="Times New Roman"/>
              </a:rPr>
              <a:t>Enters details about roles, responsibilities,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270"/>
              </a:lnSpc>
              <a:spcBef>
                <a:spcPts val="309"/>
              </a:spcBef>
              <a:tabLst>
                <a:tab algn="l" pos="0"/>
              </a:tabLst>
            </a:pPr>
            <a:r>
              <a:rPr b="0" lang="en-US" sz="1050" spc="26" strike="noStrike" u="none">
                <a:solidFill>
                  <a:srgbClr val="64748b"/>
                </a:solidFill>
                <a:uFillTx/>
                <a:latin typeface="Times New Roman"/>
              </a:rPr>
              <a:t>compensation, and confidentiality.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2" name="TextBox 16"/>
          <p:cNvSpPr/>
          <p:nvPr/>
        </p:nvSpPr>
        <p:spPr>
          <a:xfrm>
            <a:off x="4631760" y="4266000"/>
            <a:ext cx="2220840" cy="37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049"/>
              </a:lnSpc>
              <a:tabLst>
                <a:tab algn="l" pos="0"/>
              </a:tabLst>
            </a:pPr>
            <a:r>
              <a:rPr b="0" lang="en" sz="900" spc="-23" strike="noStrike" u="none">
                <a:solidFill>
                  <a:srgbClr val="2a5eb2"/>
                </a:solidFill>
                <a:uFillTx/>
                <a:latin typeface="Times New Roman"/>
              </a:rPr>
              <a:t>ACTION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270"/>
              </a:lnSpc>
              <a:spcBef>
                <a:spcPts val="641"/>
              </a:spcBef>
              <a:tabLst>
                <a:tab algn="l" pos="0"/>
              </a:tabLst>
            </a:pPr>
            <a:r>
              <a:rPr b="0" lang="en-US" sz="1050" spc="26" strike="noStrike" u="none">
                <a:solidFill>
                  <a:srgbClr val="64748b"/>
                </a:solidFill>
                <a:uFillTx/>
                <a:latin typeface="Times New Roman"/>
              </a:rPr>
              <a:t>Specifies involved parties, scope of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3" name="TextBox 17"/>
          <p:cNvSpPr/>
          <p:nvPr/>
        </p:nvSpPr>
        <p:spPr>
          <a:xfrm>
            <a:off x="8416440" y="4271040"/>
            <a:ext cx="274932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270"/>
              </a:lnSpc>
              <a:tabLst>
                <a:tab algn="l" pos="0"/>
              </a:tabLst>
            </a:pPr>
            <a:r>
              <a:rPr b="0" lang="en" sz="1050" spc="26" strike="noStrike" u="none">
                <a:solidFill>
                  <a:srgbClr val="64748b"/>
                </a:solidFill>
                <a:uFillTx/>
                <a:latin typeface="Times New Roman"/>
              </a:rPr>
              <a:t>Inputs property address, tenant details, and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270"/>
              </a:lnSpc>
              <a:spcBef>
                <a:spcPts val="309"/>
              </a:spcBef>
              <a:tabLst>
                <a:tab algn="l" pos="0"/>
              </a:tabLst>
            </a:pPr>
            <a:r>
              <a:rPr b="0" lang="en-US" sz="1050" spc="26" strike="noStrike" u="none">
                <a:solidFill>
                  <a:srgbClr val="64748b"/>
                </a:solidFill>
                <a:uFillTx/>
                <a:latin typeface="Times New Roman"/>
              </a:rPr>
              <a:t>lease terms.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4" name="TextBox 18"/>
          <p:cNvSpPr/>
          <p:nvPr/>
        </p:nvSpPr>
        <p:spPr>
          <a:xfrm>
            <a:off x="4631760" y="4681080"/>
            <a:ext cx="2124360" cy="16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270"/>
              </a:lnSpc>
              <a:tabLst>
                <a:tab algn="l" pos="0"/>
              </a:tabLst>
            </a:pPr>
            <a:r>
              <a:rPr b="0" lang="en" sz="1050" spc="26" strike="noStrike" u="none">
                <a:solidFill>
                  <a:srgbClr val="64748b"/>
                </a:solidFill>
                <a:uFillTx/>
                <a:latin typeface="Times New Roman"/>
              </a:rPr>
              <a:t>confidentiality, and effective date.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5" name="TextBox 19"/>
          <p:cNvSpPr/>
          <p:nvPr/>
        </p:nvSpPr>
        <p:spPr>
          <a:xfrm>
            <a:off x="1000800" y="5057280"/>
            <a:ext cx="56484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049"/>
              </a:lnSpc>
              <a:tabLst>
                <a:tab algn="l" pos="0"/>
              </a:tabLst>
            </a:pPr>
            <a:r>
              <a:rPr b="0" lang="en" sz="900" spc="-23" strike="noStrike" u="none">
                <a:solidFill>
                  <a:srgbClr val="38bdf8"/>
                </a:solidFill>
                <a:uFillTx/>
                <a:latin typeface="Times New Roman"/>
              </a:rPr>
              <a:t>OUTCOME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6" name="TextBox 20"/>
          <p:cNvSpPr/>
          <p:nvPr/>
        </p:nvSpPr>
        <p:spPr>
          <a:xfrm>
            <a:off x="8568720" y="5057280"/>
            <a:ext cx="56592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049"/>
              </a:lnSpc>
              <a:tabLst>
                <a:tab algn="l" pos="0"/>
              </a:tabLst>
            </a:pPr>
            <a:r>
              <a:rPr b="0" lang="en" sz="900" spc="-23" strike="noStrike" u="none">
                <a:solidFill>
                  <a:srgbClr val="38bdf8"/>
                </a:solidFill>
                <a:uFillTx/>
                <a:latin typeface="Times New Roman"/>
              </a:rPr>
              <a:t>OUTCOME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7" name="TextBox 21"/>
          <p:cNvSpPr/>
          <p:nvPr/>
        </p:nvSpPr>
        <p:spPr>
          <a:xfrm>
            <a:off x="1000800" y="5310000"/>
            <a:ext cx="259920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270"/>
              </a:lnSpc>
              <a:tabLst>
                <a:tab algn="l" pos="0"/>
              </a:tabLst>
            </a:pPr>
            <a:r>
              <a:rPr b="0" lang="en" sz="1050" spc="26" strike="noStrike" u="none">
                <a:solidFill>
                  <a:srgbClr val="1a1c1e"/>
                </a:solidFill>
                <a:uFillTx/>
                <a:latin typeface="Times New Roman"/>
              </a:rPr>
              <a:t>Generates a comprehensive agreement,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270"/>
              </a:lnSpc>
              <a:spcBef>
                <a:spcPts val="300"/>
              </a:spcBef>
              <a:tabLst>
                <a:tab algn="l" pos="0"/>
              </a:tabLst>
            </a:pPr>
            <a:r>
              <a:rPr b="0" lang="en-US" sz="1050" spc="26" strike="noStrike" u="none">
                <a:solidFill>
                  <a:srgbClr val="1a1c1e"/>
                </a:solidFill>
                <a:uFillTx/>
                <a:latin typeface="Times New Roman"/>
              </a:rPr>
              <a:t>customizes wording, adds company logo,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8" name="TextBox 22"/>
          <p:cNvSpPr/>
          <p:nvPr/>
        </p:nvSpPr>
        <p:spPr>
          <a:xfrm>
            <a:off x="4784040" y="5266800"/>
            <a:ext cx="2608200" cy="41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049"/>
              </a:lnSpc>
              <a:tabLst>
                <a:tab algn="l" pos="0"/>
              </a:tabLst>
            </a:pPr>
            <a:r>
              <a:rPr b="0" lang="en" sz="900" spc="-23" strike="noStrike" u="none">
                <a:solidFill>
                  <a:srgbClr val="38bdf8"/>
                </a:solidFill>
                <a:uFillTx/>
                <a:latin typeface="Times New Roman"/>
              </a:rPr>
              <a:t>OUTCOME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270"/>
              </a:lnSpc>
              <a:spcBef>
                <a:spcPts val="938"/>
              </a:spcBef>
              <a:tabLst>
                <a:tab algn="l" pos="0"/>
              </a:tabLst>
            </a:pPr>
            <a:r>
              <a:rPr b="0" lang="en-US" sz="1050" spc="26" strike="noStrike" u="none">
                <a:solidFill>
                  <a:srgbClr val="1a1c1e"/>
                </a:solidFill>
                <a:uFillTx/>
                <a:latin typeface="Times New Roman"/>
              </a:rPr>
              <a:t>Instantly receives a structured and legally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9" name="TextBox 23"/>
          <p:cNvSpPr/>
          <p:nvPr/>
        </p:nvSpPr>
        <p:spPr>
          <a:xfrm>
            <a:off x="8568720" y="5310000"/>
            <a:ext cx="2577600" cy="3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270"/>
              </a:lnSpc>
              <a:tabLst>
                <a:tab algn="l" pos="0"/>
              </a:tabLst>
            </a:pPr>
            <a:r>
              <a:rPr b="0" lang="en" sz="1050" spc="26" strike="noStrike" u="none">
                <a:solidFill>
                  <a:srgbClr val="1a1c1e"/>
                </a:solidFill>
                <a:uFillTx/>
                <a:latin typeface="Times New Roman"/>
              </a:rPr>
              <a:t>Creates a formatted document with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270"/>
              </a:lnSpc>
              <a:spcBef>
                <a:spcPts val="300"/>
              </a:spcBef>
              <a:tabLst>
                <a:tab algn="l" pos="0"/>
              </a:tabLst>
            </a:pPr>
            <a:r>
              <a:rPr b="0" lang="en-US" sz="1050" spc="26" strike="noStrike" u="none">
                <a:solidFill>
                  <a:srgbClr val="1a1c1e"/>
                </a:solidFill>
                <a:uFillTx/>
                <a:latin typeface="Times New Roman"/>
              </a:rPr>
              <a:t>editable sections downloadable in .DOCX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0" name="TextBox 24"/>
          <p:cNvSpPr/>
          <p:nvPr/>
        </p:nvSpPr>
        <p:spPr>
          <a:xfrm>
            <a:off x="762120" y="6220440"/>
            <a:ext cx="4444560" cy="1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230"/>
              </a:lnSpc>
              <a:tabLst>
                <a:tab algn="l" pos="0"/>
              </a:tabLst>
            </a:pPr>
            <a:r>
              <a:rPr b="0" lang="en" sz="1050" spc="26" strike="noStrike" u="none">
                <a:solidFill>
                  <a:srgbClr val="1a1c1e"/>
                </a:solidFill>
                <a:uFillTx/>
                <a:latin typeface="Times New Roman"/>
              </a:rPr>
              <a:t>LegalEase addresses distinct user needs by providing tailored legal outputs.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1" name="TextBox 25"/>
          <p:cNvSpPr/>
          <p:nvPr/>
        </p:nvSpPr>
        <p:spPr>
          <a:xfrm>
            <a:off x="10210680" y="6239520"/>
            <a:ext cx="1371240" cy="12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" sz="900" spc="-23" strike="noStrike" u="none">
                <a:solidFill>
                  <a:srgbClr val="94a3b8"/>
                </a:solidFill>
                <a:uFillTx/>
                <a:latin typeface="Times New Roman"/>
              </a:rPr>
              <a:t>APP_SCENARIO_REF_003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AutoShape 2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e4e7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3" name="AutoShape 3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dfdf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74" name="Picture 4" descr="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" name="AutoShape 5"/>
          <p:cNvSpPr/>
          <p:nvPr/>
        </p:nvSpPr>
        <p:spPr>
          <a:xfrm>
            <a:off x="0" y="1118880"/>
            <a:ext cx="12191760" cy="4619880"/>
          </a:xfrm>
          <a:prstGeom prst="rect">
            <a:avLst/>
          </a:prstGeom>
          <a:solidFill>
            <a:srgbClr val="ffffff">
              <a:alpha val="4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76" name="Connector 6"/>
          <p:cNvCxnSpPr/>
          <p:nvPr/>
        </p:nvCxnSpPr>
        <p:spPr>
          <a:xfrm>
            <a:off x="0" y="1123920"/>
            <a:ext cx="12192120" cy="360"/>
          </a:xfrm>
          <a:prstGeom prst="straightConnector1">
            <a:avLst/>
          </a:prstGeom>
          <a:ln w="10160">
            <a:solidFill>
              <a:srgbClr val="ffffff">
                <a:alpha val="30000"/>
              </a:srgbClr>
            </a:solidFill>
            <a:round/>
          </a:ln>
        </p:spPr>
      </p:cxnSp>
      <p:cxnSp>
        <p:nvCxnSpPr>
          <p:cNvPr id="77" name="Connector 7"/>
          <p:cNvCxnSpPr/>
          <p:nvPr/>
        </p:nvCxnSpPr>
        <p:spPr>
          <a:xfrm>
            <a:off x="0" y="5733720"/>
            <a:ext cx="12192120" cy="360"/>
          </a:xfrm>
          <a:prstGeom prst="straightConnector1">
            <a:avLst/>
          </a:prstGeom>
          <a:ln w="10160">
            <a:solidFill>
              <a:srgbClr val="ffffff">
                <a:alpha val="30000"/>
              </a:srgbClr>
            </a:solidFill>
            <a:round/>
          </a:ln>
        </p:spPr>
      </p:cxnSp>
      <p:cxnSp>
        <p:nvCxnSpPr>
          <p:cNvPr id="78" name="Connector 8"/>
          <p:cNvCxnSpPr/>
          <p:nvPr/>
        </p:nvCxnSpPr>
        <p:spPr>
          <a:xfrm>
            <a:off x="5638680" y="4143240"/>
            <a:ext cx="914760" cy="360"/>
          </a:xfrm>
          <a:prstGeom prst="straightConnector1">
            <a:avLst/>
          </a:prstGeom>
          <a:ln w="8890">
            <a:solidFill>
              <a:srgbClr val="295db1">
                <a:alpha val="30000"/>
              </a:srgbClr>
            </a:solidFill>
            <a:round/>
          </a:ln>
        </p:spPr>
      </p:cxnSp>
      <p:cxnSp>
        <p:nvCxnSpPr>
          <p:cNvPr id="79" name="Connector 9"/>
          <p:cNvCxnSpPr/>
          <p:nvPr/>
        </p:nvCxnSpPr>
        <p:spPr>
          <a:xfrm>
            <a:off x="990360" y="1128960"/>
            <a:ext cx="360" cy="4600080"/>
          </a:xfrm>
          <a:prstGeom prst="straightConnector1">
            <a:avLst/>
          </a:prstGeom>
          <a:ln w="38100">
            <a:solidFill>
              <a:srgbClr val="295db1"/>
            </a:solidFill>
            <a:round/>
          </a:ln>
        </p:spPr>
      </p:cxnSp>
      <p:cxnSp>
        <p:nvCxnSpPr>
          <p:cNvPr id="80" name="Connector 10"/>
          <p:cNvCxnSpPr/>
          <p:nvPr/>
        </p:nvCxnSpPr>
        <p:spPr>
          <a:xfrm>
            <a:off x="609480" y="6329520"/>
            <a:ext cx="305280" cy="360"/>
          </a:xfrm>
          <a:prstGeom prst="straightConnector1">
            <a:avLst/>
          </a:prstGeom>
          <a:ln w="10160">
            <a:solidFill>
              <a:srgbClr val="295db1"/>
            </a:solidFill>
            <a:round/>
          </a:ln>
        </p:spPr>
      </p:cxnSp>
      <p:pic>
        <p:nvPicPr>
          <p:cNvPr id="81" name="Picture 11" descr=""/>
          <p:cNvPicPr/>
          <p:nvPr/>
        </p:nvPicPr>
        <p:blipFill>
          <a:blip r:embed="rId2"/>
          <a:stretch/>
        </p:blipFill>
        <p:spPr>
          <a:xfrm>
            <a:off x="0" y="1118880"/>
            <a:ext cx="12191760" cy="9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2" name="Picture 12" descr=""/>
          <p:cNvPicPr/>
          <p:nvPr/>
        </p:nvPicPr>
        <p:blipFill>
          <a:blip r:embed="rId3"/>
          <a:stretch/>
        </p:blipFill>
        <p:spPr>
          <a:xfrm>
            <a:off x="0" y="5729040"/>
            <a:ext cx="12191760" cy="9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3" name="Picture 13" descr=""/>
          <p:cNvPicPr/>
          <p:nvPr/>
        </p:nvPicPr>
        <p:blipFill>
          <a:blip r:embed="rId4"/>
          <a:stretch/>
        </p:blipFill>
        <p:spPr>
          <a:xfrm>
            <a:off x="971640" y="1128960"/>
            <a:ext cx="37800" cy="4599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" name="TextBox 14"/>
          <p:cNvSpPr/>
          <p:nvPr/>
        </p:nvSpPr>
        <p:spPr>
          <a:xfrm>
            <a:off x="5262840" y="1897560"/>
            <a:ext cx="162396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r" defTabSz="914400">
              <a:lnSpc>
                <a:spcPts val="2259"/>
              </a:lnSpc>
              <a:tabLst>
                <a:tab algn="l" pos="0"/>
              </a:tabLst>
            </a:pPr>
            <a:r>
              <a:rPr b="1" lang="en" sz="1500" spc="20" strike="noStrike" u="none">
                <a:solidFill>
                  <a:srgbClr val="2a5eb2"/>
                </a:solidFill>
                <a:uFillTx/>
                <a:latin typeface="Times New Roman"/>
              </a:rPr>
              <a:t>C H A P T E R  0 2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5" name="TextBox 15"/>
          <p:cNvSpPr/>
          <p:nvPr/>
        </p:nvSpPr>
        <p:spPr>
          <a:xfrm>
            <a:off x="1958400" y="2263320"/>
            <a:ext cx="8287560" cy="103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8141"/>
              </a:lnSpc>
              <a:tabLst>
                <a:tab algn="l" pos="0"/>
              </a:tabLst>
            </a:pPr>
            <a:r>
              <a:rPr b="1" lang="en-US" sz="5400" spc="136" strike="noStrike" u="none">
                <a:solidFill>
                  <a:srgbClr val="1a1c1e"/>
                </a:solidFill>
                <a:uFillTx/>
                <a:latin typeface="Times New Roman"/>
              </a:rPr>
              <a:t>Technical Pre-requisites</a:t>
            </a:r>
            <a:endParaRPr b="0" lang="en-US" sz="5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6" name="TextBox 16"/>
          <p:cNvSpPr/>
          <p:nvPr/>
        </p:nvSpPr>
        <p:spPr>
          <a:xfrm>
            <a:off x="3453120" y="4362480"/>
            <a:ext cx="5283000" cy="61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r" defTabSz="914400">
              <a:lnSpc>
                <a:spcPts val="2489"/>
              </a:lnSpc>
              <a:tabLst>
                <a:tab algn="l" pos="0"/>
              </a:tabLst>
            </a:pPr>
            <a:r>
              <a:rPr b="1" lang="en-US" sz="1650" spc="40" strike="noStrike" u="none">
                <a:solidFill>
                  <a:srgbClr val="64748b"/>
                </a:solidFill>
                <a:uFillTx/>
                <a:latin typeface="Times New Roman"/>
              </a:rPr>
              <a:t>Establishing a robust foundation using FastAPI,</a:t>
            </a:r>
            <a:endParaRPr b="0" lang="en-US" sz="16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r" defTabSz="914400">
              <a:lnSpc>
                <a:spcPts val="2480"/>
              </a:lnSpc>
              <a:tabLst>
                <a:tab algn="l" pos="0"/>
              </a:tabLst>
            </a:pPr>
            <a:r>
              <a:rPr b="1" lang="en-US" sz="1650" spc="40" strike="noStrike" u="none">
                <a:solidFill>
                  <a:srgbClr val="64748b"/>
                </a:solidFill>
                <a:uFillTx/>
                <a:latin typeface="Times New Roman"/>
              </a:rPr>
              <a:t>Streamlit, and Google Gemini 1.5 Pro.</a:t>
            </a:r>
            <a:endParaRPr b="0" lang="en-US" sz="16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7" name="TextBox 17"/>
          <p:cNvSpPr/>
          <p:nvPr/>
        </p:nvSpPr>
        <p:spPr>
          <a:xfrm>
            <a:off x="1066680" y="6261120"/>
            <a:ext cx="1874160" cy="14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131"/>
              </a:lnSpc>
              <a:tabLst>
                <a:tab algn="l" pos="0"/>
              </a:tabLst>
            </a:pPr>
            <a:r>
              <a:rPr b="1" lang="en-US" sz="750" spc="17" strike="noStrike" u="none">
                <a:solidFill>
                  <a:srgbClr val="2a5eb2"/>
                </a:solidFill>
                <a:uFillTx/>
                <a:latin typeface="Times New Roman"/>
              </a:rPr>
              <a:t>S Y S T E M  B L U E P R I N T  V 1 . 0</a:t>
            </a:r>
            <a:endParaRPr b="0" lang="en-US" sz="7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8" name="TextBox 18"/>
          <p:cNvSpPr/>
          <p:nvPr/>
        </p:nvSpPr>
        <p:spPr>
          <a:xfrm>
            <a:off x="3577680" y="3016080"/>
            <a:ext cx="5050440" cy="103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" sz="5400" spc="136" strike="noStrike" u="none">
                <a:solidFill>
                  <a:srgbClr val="1a1c1e"/>
                </a:solidFill>
                <a:uFillTx/>
                <a:latin typeface="Times New Roman"/>
              </a:rPr>
              <a:t>&amp; Arc</a:t>
            </a:r>
            <a:r>
              <a:rPr b="1" lang="en-US" sz="5400" spc="136" strike="noStrike" u="none">
                <a:solidFill>
                  <a:srgbClr val="1a1c1e"/>
                </a:solidFill>
                <a:uFillTx/>
                <a:latin typeface="Times New Roman"/>
              </a:rPr>
              <a:t>hitecture</a:t>
            </a:r>
            <a:endParaRPr b="0" lang="en-US" sz="5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AutoShape 2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e4e7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90" name="Picture 3" descr="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" name="TextBox 4"/>
          <p:cNvSpPr/>
          <p:nvPr/>
        </p:nvSpPr>
        <p:spPr>
          <a:xfrm>
            <a:off x="609480" y="266760"/>
            <a:ext cx="6180840" cy="57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230"/>
              </a:lnSpc>
              <a:tabLst>
                <a:tab algn="l" pos="0"/>
              </a:tabLst>
            </a:pPr>
            <a:r>
              <a:rPr b="0" lang="en" sz="1050" spc="-26" strike="noStrike" u="none">
                <a:solidFill>
                  <a:srgbClr val="64748b"/>
                </a:solidFill>
                <a:uFillTx/>
                <a:latin typeface="Times New Roman"/>
              </a:rPr>
              <a:t>FOUNDATIONAL REQUIREMENTS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2809"/>
              </a:lnSpc>
              <a:spcBef>
                <a:spcPts val="519"/>
              </a:spcBef>
              <a:tabLst>
                <a:tab algn="l" pos="0"/>
              </a:tabLst>
            </a:pPr>
            <a:r>
              <a:rPr b="0" lang="en-US" sz="2400" spc="31" strike="noStrike" u="none">
                <a:solidFill>
                  <a:srgbClr val="1a1c1e"/>
                </a:solidFill>
                <a:uFillTx/>
                <a:latin typeface="Times New Roman"/>
              </a:rPr>
              <a:t>Technical Pre-requisites &amp; Environment Setup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2" name="TextBox 5"/>
          <p:cNvSpPr/>
          <p:nvPr/>
        </p:nvSpPr>
        <p:spPr>
          <a:xfrm>
            <a:off x="781200" y="1436400"/>
            <a:ext cx="384408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2100"/>
              </a:lnSpc>
              <a:tabLst>
                <a:tab algn="l" pos="0"/>
              </a:tabLst>
            </a:pPr>
            <a:r>
              <a:rPr b="0" lang="en" sz="1800" spc="9" strike="noStrike" u="none">
                <a:solidFill>
                  <a:srgbClr val="1a1c1e"/>
                </a:solidFill>
                <a:uFillTx/>
                <a:latin typeface="Times New Roman"/>
              </a:rPr>
              <a:t>Core Framework Knowledge Required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3" name="TextBox 6"/>
          <p:cNvSpPr/>
          <p:nvPr/>
        </p:nvSpPr>
        <p:spPr>
          <a:xfrm>
            <a:off x="7059960" y="1681560"/>
            <a:ext cx="4250160" cy="18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451"/>
              </a:lnSpc>
              <a:tabLst>
                <a:tab algn="l" pos="0"/>
              </a:tabLst>
            </a:pPr>
            <a:r>
              <a:rPr b="0" i="1" lang="en" sz="1200" spc="31" strike="noStrike" u="none">
                <a:solidFill>
                  <a:srgbClr val="1a1c1e"/>
                </a:solidFill>
                <a:uFillTx/>
                <a:latin typeface="Times New Roman"/>
              </a:rPr>
              <a:t>"The foundational knowledge and specific Python libraries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4" name="TextBox 7"/>
          <p:cNvSpPr/>
          <p:nvPr/>
        </p:nvSpPr>
        <p:spPr>
          <a:xfrm>
            <a:off x="1496160" y="2222640"/>
            <a:ext cx="40089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579"/>
              </a:lnSpc>
              <a:tabLst>
                <a:tab algn="l" pos="0"/>
              </a:tabLst>
            </a:pPr>
            <a:r>
              <a:rPr b="0" lang="en" sz="1350" spc="-11" strike="noStrike" u="none">
                <a:solidFill>
                  <a:srgbClr val="2a5eb2"/>
                </a:solidFill>
                <a:uFillTx/>
                <a:latin typeface="Times New Roman"/>
              </a:rPr>
              <a:t>FastAPI Framework</a:t>
            </a:r>
            <a:endParaRPr b="0" lang="en-US" sz="13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270"/>
              </a:lnSpc>
              <a:spcBef>
                <a:spcPts val="680"/>
              </a:spcBef>
              <a:tabLst>
                <a:tab algn="l" pos="0"/>
              </a:tabLst>
            </a:pPr>
            <a:r>
              <a:rPr b="0" lang="en-US" sz="1050" spc="26" strike="noStrike" u="none">
                <a:solidFill>
                  <a:srgbClr val="64748b"/>
                </a:solidFill>
                <a:uFillTx/>
                <a:latin typeface="Times New Roman"/>
              </a:rPr>
              <a:t>For building high-performance, production-ready backend APIs.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579"/>
              </a:lnSpc>
              <a:spcBef>
                <a:spcPts val="5689"/>
              </a:spcBef>
              <a:tabLst>
                <a:tab algn="l" pos="0"/>
              </a:tabLst>
            </a:pPr>
            <a:r>
              <a:rPr b="0" lang="en-US" sz="1350" spc="-34" strike="noStrike" u="none">
                <a:solidFill>
                  <a:srgbClr val="2a5eb2"/>
                </a:solidFill>
                <a:uFillTx/>
                <a:latin typeface="Times New Roman"/>
              </a:rPr>
              <a:t>Google Gemini API</a:t>
            </a:r>
            <a:endParaRPr b="0" lang="en-US" sz="13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5" name="TextBox 8"/>
          <p:cNvSpPr/>
          <p:nvPr/>
        </p:nvSpPr>
        <p:spPr>
          <a:xfrm>
            <a:off x="6802200" y="1929240"/>
            <a:ext cx="4490280" cy="14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marL="257760" defTabSz="914400">
              <a:lnSpc>
                <a:spcPts val="1451"/>
              </a:lnSpc>
              <a:tabLst>
                <a:tab algn="l" pos="0"/>
              </a:tabLst>
            </a:pPr>
            <a:r>
              <a:rPr b="0" i="1" lang="en" sz="1200" spc="31" strike="noStrike" u="none">
                <a:solidFill>
                  <a:srgbClr val="1a1c1e"/>
                </a:solidFill>
                <a:uFillTx/>
                <a:latin typeface="Times New Roman"/>
              </a:rPr>
              <a:t>required to build and execute the LegalEase platform."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049"/>
              </a:lnSpc>
              <a:spcBef>
                <a:spcPts val="4578"/>
              </a:spcBef>
              <a:tabLst>
                <a:tab algn="l" pos="0"/>
              </a:tabLst>
            </a:pPr>
            <a:r>
              <a:rPr b="0" lang="en-US" sz="900" spc="23" strike="noStrike" u="none">
                <a:solidFill>
                  <a:srgbClr val="64748b"/>
                </a:solidFill>
                <a:uFillTx/>
                <a:latin typeface="Times New Roman"/>
              </a:rPr>
              <a:t>PROJECT BASIS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989"/>
              </a:spcBef>
              <a:tabLst>
                <a:tab algn="l" pos="0"/>
              </a:tabLst>
            </a:pPr>
            <a:r>
              <a:rPr b="0" lang="en-US" sz="1200" spc="9" strike="noStrike" u="none">
                <a:solidFill>
                  <a:srgbClr val="1a1c1e"/>
                </a:solidFill>
                <a:uFillTx/>
                <a:latin typeface="Times New Roman"/>
              </a:rPr>
              <a:t>A standard Python 3.10+ environment equipped with specialized AI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541"/>
              </a:spcBef>
              <a:tabLst>
                <a:tab algn="l" pos="0"/>
              </a:tabLst>
            </a:pPr>
            <a:r>
              <a:rPr b="0" lang="en-US" sz="1200" spc="17" strike="noStrike" u="none">
                <a:solidFill>
                  <a:srgbClr val="1a1c1e"/>
                </a:solidFill>
                <a:uFillTx/>
                <a:latin typeface="Times New Roman"/>
              </a:rPr>
              <a:t>and document formatting SDKs forms the project basis.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6" name="TextBox 9"/>
          <p:cNvSpPr/>
          <p:nvPr/>
        </p:nvSpPr>
        <p:spPr>
          <a:xfrm>
            <a:off x="1496160" y="3680640"/>
            <a:ext cx="4495320" cy="16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270"/>
              </a:lnSpc>
              <a:tabLst>
                <a:tab algn="l" pos="0"/>
              </a:tabLst>
            </a:pPr>
            <a:r>
              <a:rPr b="0" lang="en" sz="1050" spc="26" strike="noStrike" u="none">
                <a:solidFill>
                  <a:srgbClr val="64748b"/>
                </a:solidFill>
                <a:uFillTx/>
                <a:latin typeface="Times New Roman"/>
              </a:rPr>
              <a:t>Familiarity with Google Generative AI SDK for advanced text generation.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7" name="TextBox 10"/>
          <p:cNvSpPr/>
          <p:nvPr/>
        </p:nvSpPr>
        <p:spPr>
          <a:xfrm>
            <a:off x="6802200" y="3746520"/>
            <a:ext cx="267804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579"/>
              </a:lnSpc>
              <a:tabLst>
                <a:tab algn="l" pos="0"/>
              </a:tabLst>
            </a:pPr>
            <a:r>
              <a:rPr b="0" lang="en" sz="1350" spc="3" strike="noStrike" u="none">
                <a:solidFill>
                  <a:srgbClr val="1a1c1e"/>
                </a:solidFill>
                <a:uFillTx/>
                <a:latin typeface="Times New Roman"/>
              </a:rPr>
              <a:t>Environment Installation Command</a:t>
            </a:r>
            <a:endParaRPr b="0" lang="en-US" sz="13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8" name="TextBox 11"/>
          <p:cNvSpPr/>
          <p:nvPr/>
        </p:nvSpPr>
        <p:spPr>
          <a:xfrm>
            <a:off x="7545240" y="4226400"/>
            <a:ext cx="799920" cy="10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" sz="750" spc="17" strike="noStrike" u="none">
                <a:solidFill>
                  <a:srgbClr val="94a3b8"/>
                </a:solidFill>
                <a:uFillTx/>
                <a:latin typeface="Times New Roman"/>
              </a:rPr>
              <a:t>zsh — setup.sh</a:t>
            </a:r>
            <a:endParaRPr b="0" lang="en-US" sz="7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9" name="TextBox 12"/>
          <p:cNvSpPr/>
          <p:nvPr/>
        </p:nvSpPr>
        <p:spPr>
          <a:xfrm>
            <a:off x="1496160" y="4565520"/>
            <a:ext cx="3970800" cy="44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579"/>
              </a:lnSpc>
              <a:tabLst>
                <a:tab algn="l" pos="0"/>
              </a:tabLst>
            </a:pPr>
            <a:r>
              <a:rPr b="0" lang="en" sz="1350" spc="34" strike="noStrike" u="none">
                <a:solidFill>
                  <a:srgbClr val="2a5eb2"/>
                </a:solidFill>
                <a:uFillTx/>
                <a:latin typeface="Times New Roman"/>
              </a:rPr>
              <a:t>Streamlit</a:t>
            </a:r>
            <a:endParaRPr b="0" lang="en-US" sz="13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270"/>
              </a:lnSpc>
              <a:spcBef>
                <a:spcPts val="680"/>
              </a:spcBef>
              <a:tabLst>
                <a:tab algn="l" pos="0"/>
              </a:tabLst>
            </a:pPr>
            <a:r>
              <a:rPr b="0" lang="en-US" sz="1050" spc="26" strike="noStrike" u="none">
                <a:solidFill>
                  <a:srgbClr val="64748b"/>
                </a:solidFill>
                <a:uFillTx/>
                <a:latin typeface="Times New Roman"/>
              </a:rPr>
              <a:t>For rapid frontend UI development and interactive components.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0" name="TextBox 13"/>
          <p:cNvSpPr/>
          <p:nvPr/>
        </p:nvSpPr>
        <p:spPr>
          <a:xfrm>
            <a:off x="6992640" y="4651920"/>
            <a:ext cx="4320360" cy="3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" sz="1050" spc="26" strike="noStrike" u="none">
                <a:solidFill>
                  <a:srgbClr val="27c93f"/>
                </a:solidFill>
                <a:uFillTx/>
                <a:latin typeface="Times New Roman"/>
              </a:rPr>
              <a:t>$</a:t>
            </a:r>
            <a:r>
              <a:rPr b="0" lang="en-US" sz="1050" strike="noStrike" u="none">
                <a:solidFill>
                  <a:srgbClr val="1a1c1e"/>
                </a:solidFill>
                <a:uFillTx/>
                <a:latin typeface="Times New Roman"/>
              </a:rPr>
              <a:t>  </a:t>
            </a:r>
            <a:r>
              <a:rPr b="0" lang="en-US" sz="1050" strike="noStrike" u="none">
                <a:solidFill>
                  <a:srgbClr val="e2e8f0"/>
                </a:solidFill>
                <a:uFillTx/>
                <a:latin typeface="Times New Roman"/>
              </a:rPr>
              <a:t>pip install fastapi uvicorn streamlit python-docx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609"/>
              </a:spcBef>
              <a:tabLst>
                <a:tab algn="l" pos="0"/>
              </a:tabLst>
            </a:pPr>
            <a:r>
              <a:rPr b="0" lang="en-US" sz="1050" strike="noStrike" u="none">
                <a:solidFill>
                  <a:srgbClr val="e2e8f0"/>
                </a:solidFill>
                <a:uFillTx/>
                <a:latin typeface="Times New Roman"/>
              </a:rPr>
              <a:t>fpdf Pillow requests google-generativeai python-dotenv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1" name="TextBox 14"/>
          <p:cNvSpPr/>
          <p:nvPr/>
        </p:nvSpPr>
        <p:spPr>
          <a:xfrm>
            <a:off x="1496160" y="5727600"/>
            <a:ext cx="3456720" cy="44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579"/>
              </a:lnSpc>
              <a:tabLst>
                <a:tab algn="l" pos="0"/>
              </a:tabLst>
            </a:pPr>
            <a:r>
              <a:rPr b="0" lang="en" sz="1350" spc="11" strike="noStrike" u="none">
                <a:solidFill>
                  <a:srgbClr val="2a5eb2"/>
                </a:solidFill>
                <a:uFillTx/>
                <a:latin typeface="Times New Roman"/>
              </a:rPr>
              <a:t>Python Programming</a:t>
            </a:r>
            <a:endParaRPr b="0" lang="en-US" sz="13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270"/>
              </a:lnSpc>
              <a:spcBef>
                <a:spcPts val="680"/>
              </a:spcBef>
              <a:tabLst>
                <a:tab algn="l" pos="0"/>
              </a:tabLst>
            </a:pPr>
            <a:r>
              <a:rPr b="0" lang="en-US" sz="1050" spc="26" strike="noStrike" u="none">
                <a:solidFill>
                  <a:srgbClr val="64748b"/>
                </a:solidFill>
                <a:uFillTx/>
                <a:latin typeface="Times New Roman"/>
              </a:rPr>
              <a:t>High proficiency required for core logic and integration.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AutoShape 2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e4e7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03" name="Picture 3" descr="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TextBox 4"/>
          <p:cNvSpPr/>
          <p:nvPr/>
        </p:nvSpPr>
        <p:spPr>
          <a:xfrm>
            <a:off x="609480" y="266760"/>
            <a:ext cx="604476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230"/>
              </a:lnSpc>
              <a:tabLst>
                <a:tab algn="l" pos="0"/>
              </a:tabLst>
            </a:pPr>
            <a:r>
              <a:rPr b="0" lang="en" sz="1050" strike="noStrike" u="none">
                <a:solidFill>
                  <a:srgbClr val="64748b"/>
                </a:solidFill>
                <a:uFillTx/>
                <a:latin typeface="Times New Roman"/>
              </a:rPr>
              <a:t>SYSTEM FRAMEWORK OVERVIEW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2809"/>
              </a:lnSpc>
              <a:spcBef>
                <a:spcPts val="519"/>
              </a:spcBef>
              <a:tabLst>
                <a:tab algn="l" pos="0"/>
              </a:tabLst>
            </a:pPr>
            <a:r>
              <a:rPr b="0" lang="en-US" sz="2400" spc="14" strike="noStrike" u="none">
                <a:solidFill>
                  <a:srgbClr val="1a1c1e"/>
                </a:solidFill>
                <a:uFillTx/>
                <a:latin typeface="Times New Roman"/>
              </a:rPr>
              <a:t>System Architecture &amp; Component Definition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81440" defTabSz="914400">
              <a:lnSpc>
                <a:spcPts val="1451"/>
              </a:lnSpc>
              <a:spcBef>
                <a:spcPts val="4779"/>
              </a:spcBef>
              <a:tabLst>
                <a:tab algn="l" pos="0"/>
              </a:tabLst>
            </a:pPr>
            <a:r>
              <a:rPr b="0" i="1" lang="en-US" sz="1200" spc="31" strike="noStrike" u="none">
                <a:solidFill>
                  <a:srgbClr val="64748b"/>
                </a:solidFill>
                <a:uFillTx/>
                <a:latin typeface="Times New Roman"/>
              </a:rPr>
              <a:t>LegalEase utilizes a decoupled architecture separating the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5" name="TextBox 5"/>
          <p:cNvSpPr/>
          <p:nvPr/>
        </p:nvSpPr>
        <p:spPr>
          <a:xfrm>
            <a:off x="791280" y="1700640"/>
            <a:ext cx="4414320" cy="87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451"/>
              </a:lnSpc>
              <a:tabLst>
                <a:tab algn="l" pos="0"/>
              </a:tabLst>
            </a:pPr>
            <a:r>
              <a:rPr b="0" i="1" lang="en" sz="1200" spc="31" strike="noStrike" u="none">
                <a:solidFill>
                  <a:srgbClr val="64748b"/>
                </a:solidFill>
                <a:uFillTx/>
                <a:latin typeface="Times New Roman"/>
              </a:rPr>
              <a:t>Streamlit UI from the FastAPI backend for optimal scalability.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1360" defTabSz="914400">
              <a:lnSpc>
                <a:spcPts val="1579"/>
              </a:lnSpc>
              <a:spcBef>
                <a:spcPts val="3858"/>
              </a:spcBef>
              <a:tabLst>
                <a:tab algn="l" pos="0"/>
              </a:tabLst>
            </a:pPr>
            <a:r>
              <a:rPr b="0" lang="en-US" sz="1350" spc="6" strike="noStrike" u="none">
                <a:solidFill>
                  <a:srgbClr val="2a5eb2"/>
                </a:solidFill>
                <a:uFillTx/>
                <a:latin typeface="Times New Roman"/>
              </a:rPr>
              <a:t>Frontend (Streamlit)</a:t>
            </a:r>
            <a:endParaRPr b="0" lang="en-US" sz="13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6" name="TextBox 6"/>
          <p:cNvSpPr/>
          <p:nvPr/>
        </p:nvSpPr>
        <p:spPr>
          <a:xfrm>
            <a:off x="8079840" y="2387520"/>
            <a:ext cx="1422000" cy="29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" sz="1050" spc="-26" strike="noStrike" u="none">
                <a:solidFill>
                  <a:srgbClr val="2a5eb2"/>
                </a:solidFill>
                <a:uFillTx/>
                <a:latin typeface="Times New Roman"/>
              </a:rPr>
              <a:t>STREAMLIT FRONTEND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81440" defTabSz="914400">
              <a:lnSpc>
                <a:spcPct val="100000"/>
              </a:lnSpc>
              <a:spcBef>
                <a:spcPts val="230"/>
              </a:spcBef>
              <a:tabLst>
                <a:tab algn="l" pos="0"/>
              </a:tabLst>
            </a:pPr>
            <a:r>
              <a:rPr b="0" lang="en-US" sz="650" spc="17" strike="noStrike" u="none">
                <a:solidFill>
                  <a:srgbClr val="64748b"/>
                </a:solidFill>
                <a:uFillTx/>
                <a:latin typeface="Times New Roman"/>
              </a:rPr>
              <a:t>User Interface &amp; Validation</a:t>
            </a:r>
            <a:endParaRPr b="0" lang="en-US" sz="6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7" name="TextBox 7"/>
          <p:cNvSpPr/>
          <p:nvPr/>
        </p:nvSpPr>
        <p:spPr>
          <a:xfrm>
            <a:off x="10091520" y="1674000"/>
            <a:ext cx="1329480" cy="11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" sz="750" spc="-17" strike="noStrike" u="none">
                <a:solidFill>
                  <a:srgbClr val="94a3b8"/>
                </a:solidFill>
                <a:uFillTx/>
                <a:latin typeface="Times New Roman"/>
              </a:rPr>
              <a:t>ARCHITECTURE DIAGRAM V1.0.4</a:t>
            </a:r>
            <a:endParaRPr b="0" lang="en-US" sz="7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8" name="TextBox 8"/>
          <p:cNvSpPr/>
          <p:nvPr/>
        </p:nvSpPr>
        <p:spPr>
          <a:xfrm>
            <a:off x="810360" y="2689920"/>
            <a:ext cx="4061160" cy="33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" sz="950" spc="23" strike="noStrike" u="none">
                <a:solidFill>
                  <a:srgbClr val="1a1c1e"/>
                </a:solidFill>
                <a:uFillTx/>
                <a:latin typeface="Times New Roman"/>
              </a:rPr>
              <a:t>User interaction, document input fields, responsive layouts, dynamic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320"/>
              </a:spcBef>
              <a:tabLst>
                <a:tab algn="l" pos="0"/>
              </a:tabLst>
            </a:pPr>
            <a:r>
              <a:rPr b="0" lang="en-US" sz="950" spc="23" strike="noStrike" u="none">
                <a:solidFill>
                  <a:srgbClr val="1a1c1e"/>
                </a:solidFill>
                <a:uFillTx/>
                <a:latin typeface="Times New Roman"/>
              </a:rPr>
              <a:t>previews, and file downloads.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9" name="TextBox 9"/>
          <p:cNvSpPr/>
          <p:nvPr/>
        </p:nvSpPr>
        <p:spPr>
          <a:xfrm>
            <a:off x="8223120" y="3403440"/>
            <a:ext cx="1136160" cy="15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" sz="1050" spc="-26" strike="noStrike" u="none">
                <a:solidFill>
                  <a:srgbClr val="2a5eb2"/>
                </a:solidFill>
                <a:uFillTx/>
                <a:latin typeface="Times New Roman"/>
              </a:rPr>
              <a:t>FASTAPI BACKEND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0" name="TextBox 10"/>
          <p:cNvSpPr/>
          <p:nvPr/>
        </p:nvSpPr>
        <p:spPr>
          <a:xfrm>
            <a:off x="962640" y="3632040"/>
            <a:ext cx="141048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579"/>
              </a:lnSpc>
              <a:tabLst>
                <a:tab algn="l" pos="0"/>
              </a:tabLst>
            </a:pPr>
            <a:r>
              <a:rPr b="0" lang="en" sz="1350" spc="-3" strike="noStrike" u="none">
                <a:solidFill>
                  <a:srgbClr val="2a5eb2"/>
                </a:solidFill>
                <a:uFillTx/>
                <a:latin typeface="Times New Roman"/>
              </a:rPr>
              <a:t>Backend (FastAPI)</a:t>
            </a:r>
            <a:endParaRPr b="0" lang="en-US" sz="13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1" name="TextBox 11"/>
          <p:cNvSpPr/>
          <p:nvPr/>
        </p:nvSpPr>
        <p:spPr>
          <a:xfrm>
            <a:off x="7542360" y="3816360"/>
            <a:ext cx="880920" cy="11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" sz="750" spc="17" strike="noStrike" u="none">
                <a:solidFill>
                  <a:srgbClr val="1a1c1e"/>
                </a:solidFill>
                <a:uFillTx/>
                <a:latin typeface="Times New Roman"/>
              </a:rPr>
              <a:t>API Routes / Logic</a:t>
            </a:r>
            <a:endParaRPr b="0" lang="en-US" sz="7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2" name="TextBox 12"/>
          <p:cNvSpPr/>
          <p:nvPr/>
        </p:nvSpPr>
        <p:spPr>
          <a:xfrm>
            <a:off x="9198720" y="3816360"/>
            <a:ext cx="786960" cy="11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" sz="750" spc="17" strike="noStrike" u="none">
                <a:solidFill>
                  <a:srgbClr val="1a1c1e"/>
                </a:solidFill>
                <a:uFillTx/>
                <a:latin typeface="Times New Roman"/>
              </a:rPr>
              <a:t>Request Handler</a:t>
            </a:r>
            <a:endParaRPr b="0" lang="en-US" sz="7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3" name="TextBox 13"/>
          <p:cNvSpPr/>
          <p:nvPr/>
        </p:nvSpPr>
        <p:spPr>
          <a:xfrm>
            <a:off x="810360" y="3947040"/>
            <a:ext cx="4352040" cy="33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" sz="950" spc="23" strike="noStrike" u="none">
                <a:solidFill>
                  <a:srgbClr val="1a1c1e"/>
                </a:solidFill>
                <a:uFillTx/>
                <a:latin typeface="Times New Roman"/>
              </a:rPr>
              <a:t>API routing (main.py, routes.py), processes incoming POST requests, and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320"/>
              </a:spcBef>
              <a:tabLst>
                <a:tab algn="l" pos="0"/>
              </a:tabLst>
            </a:pPr>
            <a:r>
              <a:rPr b="0" lang="en-US" sz="950" spc="23" strike="noStrike" u="none">
                <a:solidFill>
                  <a:srgbClr val="1a1c1e"/>
                </a:solidFill>
                <a:uFillTx/>
                <a:latin typeface="Times New Roman"/>
              </a:rPr>
              <a:t>communicates with the AI core.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4" name="TextBox 14"/>
          <p:cNvSpPr/>
          <p:nvPr/>
        </p:nvSpPr>
        <p:spPr>
          <a:xfrm>
            <a:off x="962640" y="4889520"/>
            <a:ext cx="12492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579"/>
              </a:lnSpc>
              <a:tabLst>
                <a:tab algn="l" pos="0"/>
              </a:tabLst>
            </a:pPr>
            <a:r>
              <a:rPr b="0" lang="en" sz="1350" spc="-34" strike="noStrike" u="none">
                <a:solidFill>
                  <a:srgbClr val="2a5eb2"/>
                </a:solidFill>
                <a:uFillTx/>
                <a:latin typeface="Times New Roman"/>
              </a:rPr>
              <a:t>AI Core (Gemini)</a:t>
            </a:r>
            <a:endParaRPr b="0" lang="en-US" sz="13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5" name="TextBox 15"/>
          <p:cNvSpPr/>
          <p:nvPr/>
        </p:nvSpPr>
        <p:spPr>
          <a:xfrm>
            <a:off x="7649280" y="4901040"/>
            <a:ext cx="418680" cy="13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" sz="900" spc="-23" strike="noStrike" u="none">
                <a:solidFill>
                  <a:srgbClr val="ffffff"/>
                </a:solidFill>
                <a:uFillTx/>
                <a:latin typeface="Times New Roman"/>
              </a:rPr>
              <a:t>AI CORE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6" name="TextBox 16"/>
          <p:cNvSpPr/>
          <p:nvPr/>
        </p:nvSpPr>
        <p:spPr>
          <a:xfrm>
            <a:off x="9368640" y="4901040"/>
            <a:ext cx="708480" cy="13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" sz="900" spc="-23" strike="noStrike" u="none">
                <a:solidFill>
                  <a:srgbClr val="ffffff"/>
                </a:solidFill>
                <a:uFillTx/>
                <a:latin typeface="Times New Roman"/>
              </a:rPr>
              <a:t>FORMATTERS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7" name="TextBox 17"/>
          <p:cNvSpPr/>
          <p:nvPr/>
        </p:nvSpPr>
        <p:spPr>
          <a:xfrm>
            <a:off x="7500600" y="5099040"/>
            <a:ext cx="717120" cy="10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b="0" lang="en" sz="650" spc="17" strike="noStrike" u="none">
                <a:solidFill>
                  <a:srgbClr val="ffffff"/>
                </a:solidFill>
                <a:uFillTx/>
                <a:latin typeface="Times New Roman"/>
              </a:rPr>
              <a:t>Gemini Integration</a:t>
            </a:r>
            <a:endParaRPr b="0" lang="en-US" sz="6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8" name="TextBox 18"/>
          <p:cNvSpPr/>
          <p:nvPr/>
        </p:nvSpPr>
        <p:spPr>
          <a:xfrm>
            <a:off x="9349920" y="5099040"/>
            <a:ext cx="740160" cy="10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799"/>
              </a:lnSpc>
              <a:tabLst>
                <a:tab algn="l" pos="0"/>
              </a:tabLst>
            </a:pPr>
            <a:r>
              <a:rPr b="0" lang="en" sz="650" spc="6" strike="noStrike" u="none">
                <a:solidFill>
                  <a:srgbClr val="ffffff"/>
                </a:solidFill>
                <a:uFillTx/>
                <a:latin typeface="Times New Roman"/>
              </a:rPr>
              <a:t>PDF / DOCX / TXT</a:t>
            </a:r>
            <a:endParaRPr b="0" lang="en-US" sz="6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9" name="TextBox 19"/>
          <p:cNvSpPr/>
          <p:nvPr/>
        </p:nvSpPr>
        <p:spPr>
          <a:xfrm>
            <a:off x="810360" y="5204520"/>
            <a:ext cx="428472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" sz="950" spc="23" strike="noStrike" u="none">
                <a:solidFill>
                  <a:srgbClr val="1a1c1e"/>
                </a:solidFill>
                <a:uFillTx/>
                <a:latin typeface="Times New Roman"/>
              </a:rPr>
              <a:t>Encapsulated inside gemini_generation.py to handle prompt engineering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320"/>
              </a:spcBef>
              <a:tabLst>
                <a:tab algn="l" pos="0"/>
              </a:tabLst>
            </a:pPr>
            <a:r>
              <a:rPr b="0" lang="en-US" sz="950" spc="23" strike="noStrike" u="none">
                <a:solidFill>
                  <a:srgbClr val="1a1c1e"/>
                </a:solidFill>
                <a:uFillTx/>
                <a:latin typeface="Times New Roman"/>
              </a:rPr>
              <a:t>and model execution.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52280" defTabSz="914400">
              <a:lnSpc>
                <a:spcPts val="1579"/>
              </a:lnSpc>
              <a:spcBef>
                <a:spcPts val="4740"/>
              </a:spcBef>
              <a:tabLst>
                <a:tab algn="l" pos="0"/>
              </a:tabLst>
            </a:pPr>
            <a:r>
              <a:rPr b="0" lang="en-US" sz="1350" spc="3" strike="noStrike" u="none">
                <a:solidFill>
                  <a:srgbClr val="2a5eb2"/>
                </a:solidFill>
                <a:uFillTx/>
                <a:latin typeface="Times New Roman"/>
              </a:rPr>
              <a:t>Formatting Modules</a:t>
            </a:r>
            <a:endParaRPr b="0" lang="en-US" sz="13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0" name="TextBox 20"/>
          <p:cNvSpPr/>
          <p:nvPr/>
        </p:nvSpPr>
        <p:spPr>
          <a:xfrm>
            <a:off x="10674360" y="4333320"/>
            <a:ext cx="98640" cy="56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 vert="ver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" sz="650" strike="noStrike" u="none">
                <a:solidFill>
                  <a:srgbClr val="38bdf8"/>
                </a:solidFill>
                <a:uFillTx/>
                <a:latin typeface="Times New Roman"/>
              </a:rPr>
              <a:t>GEMINI AI LINK</a:t>
            </a:r>
            <a:endParaRPr b="0" lang="en-US" sz="6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AutoShape 2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2f4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22" name="Picture 3" descr="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3" name="Picture 4" descr="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4" name="TextBox 5"/>
          <p:cNvSpPr/>
          <p:nvPr/>
        </p:nvSpPr>
        <p:spPr>
          <a:xfrm>
            <a:off x="1783080" y="1911240"/>
            <a:ext cx="8639280" cy="30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marL="3479760" defTabSz="914400">
              <a:lnSpc>
                <a:spcPts val="2259"/>
              </a:lnSpc>
              <a:tabLst>
                <a:tab algn="l" pos="0"/>
              </a:tabLst>
            </a:pPr>
            <a:r>
              <a:rPr b="1" lang="en" sz="1500" spc="20" strike="noStrike" u="none">
                <a:solidFill>
                  <a:srgbClr val="2a5eb2"/>
                </a:solidFill>
                <a:uFillTx/>
                <a:latin typeface="Times New Roman"/>
              </a:rPr>
              <a:t>C H A P T E R  0 3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8141"/>
              </a:lnSpc>
              <a:spcBef>
                <a:spcPts val="5729"/>
              </a:spcBef>
              <a:tabLst>
                <a:tab algn="l" pos="0"/>
              </a:tabLst>
            </a:pPr>
            <a:r>
              <a:rPr b="1" lang="en-US" sz="5400" spc="136" strike="noStrike" u="none">
                <a:solidFill>
                  <a:srgbClr val="1a1c1e"/>
                </a:solidFill>
                <a:uFillTx/>
                <a:latin typeface="Times New Roman"/>
              </a:rPr>
              <a:t>Selection &amp; </a:t>
            </a:r>
            <a:r>
              <a:rPr b="1" lang="en-US" sz="5400" spc="136" strike="noStrike" u="none">
                <a:solidFill>
                  <a:srgbClr val="2a5eb2"/>
                </a:solidFill>
                <a:uFillTx/>
                <a:latin typeface="Times New Roman"/>
              </a:rPr>
              <a:t>Environment</a:t>
            </a:r>
            <a:endParaRPr b="0" lang="en-US" sz="5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169640" defTabSz="914400">
              <a:lnSpc>
                <a:spcPts val="2041"/>
              </a:lnSpc>
              <a:spcBef>
                <a:spcPts val="3229"/>
              </a:spcBef>
              <a:tabLst>
                <a:tab algn="l" pos="0"/>
              </a:tabLst>
            </a:pPr>
            <a:r>
              <a:rPr b="1" i="1" lang="en-US" sz="1350" spc="34" strike="noStrike" u="none">
                <a:solidFill>
                  <a:srgbClr val="64748b"/>
                </a:solidFill>
                <a:uFillTx/>
                <a:latin typeface="Times New Roman"/>
              </a:rPr>
              <a:t>"Selecting the optimal generative model capable of handling complex</a:t>
            </a:r>
            <a:endParaRPr b="0" lang="en-US" sz="13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098080" defTabSz="914400">
              <a:lnSpc>
                <a:spcPts val="2041"/>
              </a:lnSpc>
              <a:spcBef>
                <a:spcPts val="210"/>
              </a:spcBef>
              <a:tabLst>
                <a:tab algn="l" pos="0"/>
              </a:tabLst>
            </a:pPr>
            <a:r>
              <a:rPr b="1" i="1" lang="en-US" sz="1350" spc="34" strike="noStrike" u="none">
                <a:solidFill>
                  <a:srgbClr val="64748b"/>
                </a:solidFill>
                <a:uFillTx/>
                <a:latin typeface="Times New Roman"/>
              </a:rPr>
              <a:t>legal jargon and multi-part structured prompts."</a:t>
            </a:r>
            <a:endParaRPr b="0" lang="en-US" sz="13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5" name="TextBox 6"/>
          <p:cNvSpPr/>
          <p:nvPr/>
        </p:nvSpPr>
        <p:spPr>
          <a:xfrm>
            <a:off x="609480" y="6089760"/>
            <a:ext cx="1396800" cy="31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131"/>
              </a:lnSpc>
              <a:tabLst>
                <a:tab algn="l" pos="0"/>
              </a:tabLst>
            </a:pPr>
            <a:r>
              <a:rPr b="1" lang="en" sz="750" spc="17" strike="noStrike" u="none">
                <a:solidFill>
                  <a:srgbClr val="2a5eb2"/>
                </a:solidFill>
                <a:uFillTx/>
                <a:latin typeface="Times New Roman"/>
              </a:rPr>
              <a:t>SYSTEM.LATENT</a:t>
            </a:r>
            <a:endParaRPr b="0" lang="en-US" sz="7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361"/>
              </a:lnSpc>
              <a:tabLst>
                <a:tab algn="l" pos="0"/>
              </a:tabLst>
            </a:pPr>
            <a:r>
              <a:rPr b="1" lang="en-US" sz="900" spc="23" strike="noStrike" u="none">
                <a:solidFill>
                  <a:srgbClr val="1a1c1e"/>
                </a:solidFill>
                <a:uFillTx/>
                <a:latin typeface="Times New Roman"/>
              </a:rPr>
              <a:t>0.0031_PRO_VERSION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6" name="TextBox 7"/>
          <p:cNvSpPr/>
          <p:nvPr/>
        </p:nvSpPr>
        <p:spPr>
          <a:xfrm>
            <a:off x="2476440" y="6089760"/>
            <a:ext cx="1432080" cy="31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131"/>
              </a:lnSpc>
              <a:tabLst>
                <a:tab algn="l" pos="0"/>
              </a:tabLst>
            </a:pPr>
            <a:r>
              <a:rPr b="1" lang="en" sz="750" spc="17" strike="noStrike" u="none">
                <a:solidFill>
                  <a:srgbClr val="2a5eb2"/>
                </a:solidFill>
                <a:uFillTx/>
                <a:latin typeface="Times New Roman"/>
              </a:rPr>
              <a:t>STATUS</a:t>
            </a:r>
            <a:endParaRPr b="0" lang="en-US" sz="7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361"/>
              </a:lnSpc>
              <a:tabLst>
                <a:tab algn="l" pos="0"/>
              </a:tabLst>
            </a:pPr>
            <a:r>
              <a:rPr b="1" lang="en-US" sz="900" spc="6" strike="noStrike" u="none">
                <a:solidFill>
                  <a:srgbClr val="1a1c1e"/>
                </a:solidFill>
                <a:uFillTx/>
                <a:latin typeface="Times New Roman"/>
              </a:rPr>
              <a:t>ENVIRONMENT_READY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7" name="TextBox 8"/>
          <p:cNvSpPr/>
          <p:nvPr/>
        </p:nvSpPr>
        <p:spPr>
          <a:xfrm>
            <a:off x="2825640" y="2172960"/>
            <a:ext cx="6556680" cy="103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" sz="5400" spc="136" strike="noStrike" u="none">
                <a:solidFill>
                  <a:srgbClr val="1a1c1e"/>
                </a:solidFill>
                <a:uFillTx/>
                <a:latin typeface="Times New Roman"/>
              </a:rPr>
              <a:t>Milestone 1: Model</a:t>
            </a:r>
            <a:endParaRPr b="0" lang="en-US" sz="5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AutoShape 2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e2e7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29" name="Picture 3" descr="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0" name="TextBox 4"/>
          <p:cNvSpPr/>
          <p:nvPr/>
        </p:nvSpPr>
        <p:spPr>
          <a:xfrm>
            <a:off x="609480" y="266760"/>
            <a:ext cx="10713240" cy="165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230"/>
              </a:lnSpc>
              <a:tabLst>
                <a:tab algn="l" pos="0"/>
              </a:tabLst>
            </a:pPr>
            <a:r>
              <a:rPr b="0" lang="en" sz="1050" spc="11" strike="noStrike" u="none">
                <a:solidFill>
                  <a:srgbClr val="64748b"/>
                </a:solidFill>
                <a:uFillTx/>
                <a:latin typeface="Times New Roman"/>
              </a:rPr>
              <a:t>Analysis of the technical capabilities that make Google's Gemini 1.5 Pro the ideal model for legal document generation.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2809"/>
              </a:lnSpc>
              <a:spcBef>
                <a:spcPts val="519"/>
              </a:spcBef>
              <a:tabLst>
                <a:tab algn="l" pos="0"/>
              </a:tabLst>
            </a:pPr>
            <a:r>
              <a:rPr b="0" lang="en-US" sz="2400" spc="17" strike="noStrike" u="none">
                <a:solidFill>
                  <a:srgbClr val="1a1c1e"/>
                </a:solidFill>
                <a:uFillTx/>
                <a:latin typeface="Times New Roman"/>
              </a:rPr>
              <a:t>Model Selection: Why Gemini 1.5 Pro?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66760" defTabSz="914400">
              <a:lnSpc>
                <a:spcPts val="1930"/>
              </a:lnSpc>
              <a:spcBef>
                <a:spcPts val="6508"/>
              </a:spcBef>
              <a:tabLst>
                <a:tab algn="l" pos="0"/>
              </a:tabLst>
            </a:pPr>
            <a:r>
              <a:rPr b="0" lang="en-US" sz="1650" spc="20" strike="noStrike" u="none">
                <a:solidFill>
                  <a:srgbClr val="2a5eb2"/>
                </a:solidFill>
                <a:uFillTx/>
                <a:latin typeface="Times New Roman"/>
              </a:rPr>
              <a:t>Gemini 1.5 Pro provides the necessary reasoning depth and context length required for professional legal drafting.</a:t>
            </a:r>
            <a:endParaRPr b="0" lang="en-US" sz="16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1" name="TextBox 5"/>
          <p:cNvSpPr/>
          <p:nvPr/>
        </p:nvSpPr>
        <p:spPr>
          <a:xfrm>
            <a:off x="4588560" y="2505600"/>
            <a:ext cx="2805120" cy="1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230"/>
              </a:lnSpc>
              <a:tabLst>
                <a:tab algn="l" pos="0"/>
              </a:tabLst>
            </a:pPr>
            <a:r>
              <a:rPr b="0" lang="en" sz="1050" spc="3" strike="noStrike" u="none">
                <a:solidFill>
                  <a:srgbClr val="94a3b8"/>
                </a:solidFill>
                <a:uFillTx/>
                <a:latin typeface="Times New Roman"/>
              </a:rPr>
              <a:t>EVALUATION CRITERIA &amp; CAPABILITIES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2" name="TextBox 6"/>
          <p:cNvSpPr/>
          <p:nvPr/>
        </p:nvSpPr>
        <p:spPr>
          <a:xfrm>
            <a:off x="8128080" y="2505600"/>
            <a:ext cx="2020320" cy="1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230"/>
              </a:lnSpc>
              <a:tabLst>
                <a:tab algn="l" pos="0"/>
              </a:tabLst>
            </a:pPr>
            <a:r>
              <a:rPr b="0" lang="en" sz="1050" spc="11" strike="noStrike" u="none">
                <a:solidFill>
                  <a:srgbClr val="94a3b8"/>
                </a:solidFill>
                <a:uFillTx/>
                <a:latin typeface="Times New Roman"/>
              </a:rPr>
              <a:t>FINAL SELECTION DECISION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3" name="TextBox 7"/>
          <p:cNvSpPr/>
          <p:nvPr/>
        </p:nvSpPr>
        <p:spPr>
          <a:xfrm>
            <a:off x="1103760" y="3107520"/>
            <a:ext cx="101700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579"/>
              </a:lnSpc>
              <a:tabLst>
                <a:tab algn="l" pos="0"/>
              </a:tabLst>
            </a:pPr>
            <a:r>
              <a:rPr b="0" lang="en" sz="1350" strike="noStrike" u="none">
                <a:solidFill>
                  <a:srgbClr val="2a5eb2"/>
                </a:solidFill>
                <a:uFillTx/>
                <a:latin typeface="Times New Roman"/>
              </a:rPr>
              <a:t>Long Context</a:t>
            </a:r>
            <a:endParaRPr b="0" lang="en-US" sz="13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579"/>
              </a:lnSpc>
              <a:spcBef>
                <a:spcPts val="451"/>
              </a:spcBef>
              <a:tabLst>
                <a:tab algn="l" pos="0"/>
              </a:tabLst>
            </a:pPr>
            <a:r>
              <a:rPr b="0" lang="en-US" sz="1350" spc="-34" strike="noStrike" u="none">
                <a:solidFill>
                  <a:srgbClr val="2a5eb2"/>
                </a:solidFill>
                <a:uFillTx/>
                <a:latin typeface="Times New Roman"/>
              </a:rPr>
              <a:t>Window</a:t>
            </a:r>
            <a:endParaRPr b="0" lang="en-US" sz="13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4" name="TextBox 8"/>
          <p:cNvSpPr/>
          <p:nvPr/>
        </p:nvSpPr>
        <p:spPr>
          <a:xfrm>
            <a:off x="3562200" y="3107520"/>
            <a:ext cx="80100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579"/>
              </a:lnSpc>
              <a:tabLst>
                <a:tab algn="l" pos="0"/>
              </a:tabLst>
            </a:pPr>
            <a:r>
              <a:rPr b="0" lang="en" sz="1350" spc="34" strike="noStrike" u="none">
                <a:solidFill>
                  <a:srgbClr val="2a5eb2"/>
                </a:solidFill>
                <a:uFillTx/>
                <a:latin typeface="Times New Roman"/>
              </a:rPr>
              <a:t>Structured</a:t>
            </a:r>
            <a:endParaRPr b="0" lang="en-US" sz="13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579"/>
              </a:lnSpc>
              <a:spcBef>
                <a:spcPts val="451"/>
              </a:spcBef>
              <a:tabLst>
                <a:tab algn="l" pos="0"/>
              </a:tabLst>
            </a:pPr>
            <a:r>
              <a:rPr b="0" lang="en-US" sz="1350" spc="6" strike="noStrike" u="none">
                <a:solidFill>
                  <a:srgbClr val="2a5eb2"/>
                </a:solidFill>
                <a:uFillTx/>
                <a:latin typeface="Times New Roman"/>
              </a:rPr>
              <a:t>Prompting</a:t>
            </a:r>
            <a:endParaRPr b="0" lang="en-US" sz="13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5" name="TextBox 9"/>
          <p:cNvSpPr/>
          <p:nvPr/>
        </p:nvSpPr>
        <p:spPr>
          <a:xfrm>
            <a:off x="6017400" y="3107520"/>
            <a:ext cx="995400" cy="45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579"/>
              </a:lnSpc>
              <a:tabLst>
                <a:tab algn="l" pos="0"/>
              </a:tabLst>
            </a:pPr>
            <a:r>
              <a:rPr b="0" lang="en" sz="1350" spc="-17" strike="noStrike" u="none">
                <a:solidFill>
                  <a:srgbClr val="2a5eb2"/>
                </a:solidFill>
                <a:uFillTx/>
                <a:latin typeface="Times New Roman"/>
              </a:rPr>
              <a:t>Domain</a:t>
            </a:r>
            <a:endParaRPr b="0" lang="en-US" sz="13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579"/>
              </a:lnSpc>
              <a:spcBef>
                <a:spcPts val="451"/>
              </a:spcBef>
              <a:tabLst>
                <a:tab algn="l" pos="0"/>
              </a:tabLst>
            </a:pPr>
            <a:r>
              <a:rPr b="0" lang="en-US" sz="1350" spc="-14" strike="noStrike" u="none">
                <a:solidFill>
                  <a:srgbClr val="2a5eb2"/>
                </a:solidFill>
                <a:uFillTx/>
                <a:latin typeface="Times New Roman"/>
              </a:rPr>
              <a:t>Compatibility</a:t>
            </a:r>
            <a:endParaRPr b="0" lang="en-US" sz="13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6" name="TextBox 10"/>
          <p:cNvSpPr/>
          <p:nvPr/>
        </p:nvSpPr>
        <p:spPr>
          <a:xfrm>
            <a:off x="848520" y="3728880"/>
            <a:ext cx="1620000" cy="37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270"/>
              </a:lnSpc>
              <a:tabLst>
                <a:tab algn="l" pos="0"/>
              </a:tabLst>
            </a:pPr>
            <a:r>
              <a:rPr b="0" lang="en" sz="1050" spc="26" strike="noStrike" u="none">
                <a:solidFill>
                  <a:srgbClr val="64748b"/>
                </a:solidFill>
                <a:uFillTx/>
                <a:latin typeface="Times New Roman"/>
              </a:rPr>
              <a:t>Supports up to </a:t>
            </a:r>
            <a:r>
              <a:rPr b="0" lang="en-US" sz="1050" spc="-14" strike="noStrike" u="none">
                <a:solidFill>
                  <a:srgbClr val="2a5eb2"/>
                </a:solidFill>
                <a:uFillTx/>
                <a:latin typeface="Times New Roman"/>
              </a:rPr>
              <a:t>1 million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270"/>
              </a:lnSpc>
              <a:spcBef>
                <a:spcPts val="380"/>
              </a:spcBef>
              <a:tabLst>
                <a:tab algn="l" pos="0"/>
              </a:tabLst>
            </a:pPr>
            <a:r>
              <a:rPr b="0" lang="en-US" sz="1050" spc="26" strike="noStrike" u="none">
                <a:solidFill>
                  <a:srgbClr val="2a5eb2"/>
                </a:solidFill>
                <a:uFillTx/>
                <a:latin typeface="Times New Roman"/>
              </a:rPr>
              <a:t>tokens</a:t>
            </a:r>
            <a:r>
              <a:rPr b="0" lang="en-US" sz="1050" spc="26" strike="noStrike" u="none">
                <a:solidFill>
                  <a:srgbClr val="64748b"/>
                </a:solidFill>
                <a:uFillTx/>
                <a:latin typeface="Times New Roman"/>
              </a:rPr>
              <a:t>, allowing extensive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7" name="TextBox 11"/>
          <p:cNvSpPr/>
          <p:nvPr/>
        </p:nvSpPr>
        <p:spPr>
          <a:xfrm>
            <a:off x="3303360" y="3728880"/>
            <a:ext cx="1738440" cy="37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270"/>
              </a:lnSpc>
              <a:tabLst>
                <a:tab algn="l" pos="0"/>
              </a:tabLst>
            </a:pPr>
            <a:r>
              <a:rPr b="0" lang="en" sz="1050" spc="26" strike="noStrike" u="none">
                <a:solidFill>
                  <a:srgbClr val="64748b"/>
                </a:solidFill>
                <a:uFillTx/>
                <a:latin typeface="Times New Roman"/>
              </a:rPr>
              <a:t>Superior ability to handle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270"/>
              </a:lnSpc>
              <a:spcBef>
                <a:spcPts val="380"/>
              </a:spcBef>
              <a:tabLst>
                <a:tab algn="l" pos="0"/>
              </a:tabLst>
            </a:pPr>
            <a:r>
              <a:rPr b="0" lang="en-US" sz="1050" spc="26" strike="noStrike" u="none">
                <a:solidFill>
                  <a:srgbClr val="64748b"/>
                </a:solidFill>
                <a:uFillTx/>
                <a:latin typeface="Times New Roman"/>
              </a:rPr>
              <a:t>multi-part content and </a:t>
            </a:r>
            <a:r>
              <a:rPr b="0" lang="en-US" sz="1050" spc="26" strike="noStrike" u="none">
                <a:solidFill>
                  <a:srgbClr val="2a5eb2"/>
                </a:solidFill>
                <a:uFillTx/>
                <a:latin typeface="Times New Roman"/>
              </a:rPr>
              <a:t>strict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8" name="TextBox 12"/>
          <p:cNvSpPr/>
          <p:nvPr/>
        </p:nvSpPr>
        <p:spPr>
          <a:xfrm>
            <a:off x="5758200" y="3728880"/>
            <a:ext cx="1593360" cy="37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270"/>
              </a:lnSpc>
              <a:tabLst>
                <a:tab algn="l" pos="0"/>
              </a:tabLst>
            </a:pPr>
            <a:r>
              <a:rPr b="0" lang="en" sz="1050" spc="26" strike="noStrike" u="none">
                <a:solidFill>
                  <a:srgbClr val="64748b"/>
                </a:solidFill>
                <a:uFillTx/>
                <a:latin typeface="Times New Roman"/>
              </a:rPr>
              <a:t>High benchmark marks in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270"/>
              </a:lnSpc>
              <a:spcBef>
                <a:spcPts val="380"/>
              </a:spcBef>
              <a:tabLst>
                <a:tab algn="l" pos="0"/>
              </a:tabLst>
            </a:pPr>
            <a:r>
              <a:rPr b="0" lang="en-US" sz="1050" spc="26" strike="noStrike" u="none">
                <a:solidFill>
                  <a:srgbClr val="2a5eb2"/>
                </a:solidFill>
                <a:uFillTx/>
                <a:latin typeface="Times New Roman"/>
              </a:rPr>
              <a:t>complex reasoning</a:t>
            </a:r>
            <a:r>
              <a:rPr b="0" lang="en-US" sz="1050" spc="26" strike="noStrike" u="none">
                <a:solidFill>
                  <a:srgbClr val="64748b"/>
                </a:solidFill>
                <a:uFillTx/>
                <a:latin typeface="Times New Roman"/>
              </a:rPr>
              <a:t>, clause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9" name="TextBox 13"/>
          <p:cNvSpPr/>
          <p:nvPr/>
        </p:nvSpPr>
        <p:spPr>
          <a:xfrm>
            <a:off x="8432640" y="3839040"/>
            <a:ext cx="1722960" cy="31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2460"/>
              </a:lnSpc>
              <a:tabLst>
                <a:tab algn="l" pos="0"/>
              </a:tabLst>
            </a:pPr>
            <a:r>
              <a:rPr b="0" lang="en" sz="2100" spc="28" strike="noStrike" u="none">
                <a:solidFill>
                  <a:srgbClr val="ffffff"/>
                </a:solidFill>
                <a:uFillTx/>
                <a:latin typeface="Times New Roman"/>
              </a:rPr>
              <a:t>gemini-1.5-pro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0" name="TextBox 14"/>
          <p:cNvSpPr/>
          <p:nvPr/>
        </p:nvSpPr>
        <p:spPr>
          <a:xfrm>
            <a:off x="848520" y="4156560"/>
            <a:ext cx="1821960" cy="16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270"/>
              </a:lnSpc>
              <a:tabLst>
                <a:tab algn="l" pos="0"/>
              </a:tabLst>
            </a:pPr>
            <a:r>
              <a:rPr b="0" lang="en" sz="1050" spc="26" strike="noStrike" u="none">
                <a:solidFill>
                  <a:srgbClr val="64748b"/>
                </a:solidFill>
                <a:uFillTx/>
                <a:latin typeface="Times New Roman"/>
              </a:rPr>
              <a:t>legal templates and historical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1" name="TextBox 15"/>
          <p:cNvSpPr/>
          <p:nvPr/>
        </p:nvSpPr>
        <p:spPr>
          <a:xfrm>
            <a:off x="3303360" y="4163040"/>
            <a:ext cx="1372680" cy="1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230"/>
              </a:lnSpc>
              <a:tabLst>
                <a:tab algn="l" pos="0"/>
              </a:tabLst>
            </a:pPr>
            <a:r>
              <a:rPr b="0" lang="en" sz="1050" spc="26" strike="noStrike" u="none">
                <a:solidFill>
                  <a:srgbClr val="2a5eb2"/>
                </a:solidFill>
                <a:uFillTx/>
                <a:latin typeface="Times New Roman"/>
              </a:rPr>
              <a:t>formatting instructions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2" name="TextBox 16"/>
          <p:cNvSpPr/>
          <p:nvPr/>
        </p:nvSpPr>
        <p:spPr>
          <a:xfrm>
            <a:off x="5758200" y="4156560"/>
            <a:ext cx="1687320" cy="16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270"/>
              </a:lnSpc>
              <a:tabLst>
                <a:tab algn="l" pos="0"/>
              </a:tabLst>
            </a:pPr>
            <a:r>
              <a:rPr b="0" lang="en" sz="1050" spc="26" strike="noStrike" u="none">
                <a:solidFill>
                  <a:srgbClr val="64748b"/>
                </a:solidFill>
                <a:uFillTx/>
                <a:latin typeface="Times New Roman"/>
              </a:rPr>
              <a:t>generation, and adherence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3" name="TextBox 17"/>
          <p:cNvSpPr/>
          <p:nvPr/>
        </p:nvSpPr>
        <p:spPr>
          <a:xfrm>
            <a:off x="848520" y="4366440"/>
            <a:ext cx="1528560" cy="37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270"/>
              </a:lnSpc>
              <a:tabLst>
                <a:tab algn="l" pos="0"/>
              </a:tabLst>
            </a:pPr>
            <a:r>
              <a:rPr b="0" lang="en" sz="1050" spc="26" strike="noStrike" u="none">
                <a:solidFill>
                  <a:srgbClr val="64748b"/>
                </a:solidFill>
                <a:uFillTx/>
                <a:latin typeface="Times New Roman"/>
              </a:rPr>
              <a:t>context to be processed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270"/>
              </a:lnSpc>
              <a:spcBef>
                <a:spcPts val="380"/>
              </a:spcBef>
              <a:tabLst>
                <a:tab algn="l" pos="0"/>
              </a:tabLst>
            </a:pPr>
            <a:r>
              <a:rPr b="0" lang="en-US" sz="1050" spc="26" strike="noStrike" u="none">
                <a:solidFill>
                  <a:srgbClr val="64748b"/>
                </a:solidFill>
                <a:uFillTx/>
                <a:latin typeface="Times New Roman"/>
              </a:rPr>
              <a:t>simultaneously.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4" name="TextBox 18"/>
          <p:cNvSpPr/>
          <p:nvPr/>
        </p:nvSpPr>
        <p:spPr>
          <a:xfrm>
            <a:off x="3303360" y="4366440"/>
            <a:ext cx="1589760" cy="16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270"/>
              </a:lnSpc>
              <a:tabLst>
                <a:tab algn="l" pos="0"/>
              </a:tabLst>
            </a:pPr>
            <a:r>
              <a:rPr b="0" lang="en" sz="1050" spc="26" strike="noStrike" u="none">
                <a:solidFill>
                  <a:srgbClr val="64748b"/>
                </a:solidFill>
                <a:uFillTx/>
                <a:latin typeface="Times New Roman"/>
              </a:rPr>
              <a:t>without losing coherence.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5" name="TextBox 19"/>
          <p:cNvSpPr/>
          <p:nvPr/>
        </p:nvSpPr>
        <p:spPr>
          <a:xfrm>
            <a:off x="5758200" y="4366440"/>
            <a:ext cx="1523520" cy="16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270"/>
              </a:lnSpc>
              <a:tabLst>
                <a:tab algn="l" pos="0"/>
              </a:tabLst>
            </a:pPr>
            <a:r>
              <a:rPr b="0" lang="en" sz="1050" spc="26" strike="noStrike" u="none">
                <a:solidFill>
                  <a:srgbClr val="64748b"/>
                </a:solidFill>
                <a:uFillTx/>
                <a:latin typeface="Times New Roman"/>
              </a:rPr>
              <a:t>to formal legal structure.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6" name="TextBox 20"/>
          <p:cNvSpPr/>
          <p:nvPr/>
        </p:nvSpPr>
        <p:spPr>
          <a:xfrm>
            <a:off x="8432640" y="4509720"/>
            <a:ext cx="2811600" cy="17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361"/>
              </a:lnSpc>
              <a:tabLst>
                <a:tab algn="l" pos="0"/>
              </a:tabLst>
            </a:pPr>
            <a:r>
              <a:rPr b="0" lang="en" sz="1100" spc="28" strike="noStrike" u="none">
                <a:solidFill>
                  <a:srgbClr val="ffffff"/>
                </a:solidFill>
                <a:uFillTx/>
                <a:latin typeface="Times New Roman"/>
              </a:rPr>
              <a:t>Chosen as the optimal engine for drafting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7" name="TextBox 21"/>
          <p:cNvSpPr/>
          <p:nvPr/>
        </p:nvSpPr>
        <p:spPr>
          <a:xfrm>
            <a:off x="8432640" y="4738320"/>
            <a:ext cx="2639880" cy="85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361"/>
              </a:lnSpc>
              <a:tabLst>
                <a:tab algn="l" pos="0"/>
              </a:tabLst>
            </a:pPr>
            <a:r>
              <a:rPr b="0" lang="en" sz="1100" spc="28" strike="noStrike" u="none">
                <a:solidFill>
                  <a:srgbClr val="ffffff"/>
                </a:solidFill>
                <a:uFillTx/>
                <a:latin typeface="Times New Roman"/>
              </a:rPr>
              <a:t>formal documents with clear sections,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361"/>
              </a:lnSpc>
              <a:spcBef>
                <a:spcPts val="439"/>
              </a:spcBef>
              <a:tabLst>
                <a:tab algn="l" pos="0"/>
              </a:tabLst>
            </a:pPr>
            <a:r>
              <a:rPr b="0" lang="en-US" sz="1100" spc="28" strike="noStrike" u="none">
                <a:solidFill>
                  <a:srgbClr val="ffffff"/>
                </a:solidFill>
                <a:uFillTx/>
                <a:latin typeface="Times New Roman"/>
              </a:rPr>
              <a:t>dynamic clauses, and specialized legal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361"/>
              </a:lnSpc>
              <a:spcBef>
                <a:spcPts val="439"/>
              </a:spcBef>
              <a:tabLst>
                <a:tab algn="l" pos="0"/>
              </a:tabLst>
            </a:pPr>
            <a:r>
              <a:rPr b="0" lang="en-US" sz="1100" spc="28" strike="noStrike" u="none">
                <a:solidFill>
                  <a:srgbClr val="ffffff"/>
                </a:solidFill>
                <a:uFillTx/>
                <a:latin typeface="Times New Roman"/>
              </a:rPr>
              <a:t>jargon based directly on user-provided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361"/>
              </a:lnSpc>
              <a:spcBef>
                <a:spcPts val="439"/>
              </a:spcBef>
              <a:tabLst>
                <a:tab algn="l" pos="0"/>
              </a:tabLst>
            </a:pPr>
            <a:r>
              <a:rPr b="0" lang="en-US" sz="1100" spc="28" strike="noStrike" u="none">
                <a:solidFill>
                  <a:srgbClr val="ffffff"/>
                </a:solidFill>
                <a:uFillTx/>
                <a:latin typeface="Times New Roman"/>
              </a:rPr>
              <a:t>variables.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8" name="TextBox 22"/>
          <p:cNvSpPr/>
          <p:nvPr/>
        </p:nvSpPr>
        <p:spPr>
          <a:xfrm>
            <a:off x="8432640" y="6170760"/>
            <a:ext cx="94212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049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ffffff"/>
                </a:solidFill>
                <a:uFillTx/>
                <a:latin typeface="Times New Roman"/>
              </a:rPr>
              <a:t>STATUS: DEPLOYED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9" name="TextBox 23"/>
          <p:cNvSpPr/>
          <p:nvPr/>
        </p:nvSpPr>
        <p:spPr>
          <a:xfrm>
            <a:off x="10686960" y="5918040"/>
            <a:ext cx="59004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2809"/>
              </a:lnSpc>
              <a:tabLst>
                <a:tab algn="l" pos="0"/>
              </a:tabLst>
            </a:pPr>
            <a:r>
              <a:rPr b="0" lang="en" sz="2400" spc="-60" strike="noStrike" u="none">
                <a:solidFill>
                  <a:srgbClr val="38bdf8"/>
                </a:solidFill>
                <a:uFillTx/>
                <a:latin typeface="Times New Roman"/>
              </a:rPr>
              <a:t>PRO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AutoShape 2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e4e7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51" name="Picture 3" descr="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2" name="Picture 4" descr="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3" name="TextBox 5"/>
          <p:cNvSpPr/>
          <p:nvPr/>
        </p:nvSpPr>
        <p:spPr>
          <a:xfrm>
            <a:off x="2819520" y="1665000"/>
            <a:ext cx="6549120" cy="355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marL="2138760" defTabSz="914400">
              <a:lnSpc>
                <a:spcPts val="2259"/>
              </a:lnSpc>
              <a:tabLst>
                <a:tab algn="l" pos="0"/>
              </a:tabLst>
            </a:pPr>
            <a:r>
              <a:rPr b="1" lang="en" sz="1500" spc="20" strike="noStrike" u="none">
                <a:solidFill>
                  <a:srgbClr val="2a5eb2"/>
                </a:solidFill>
                <a:uFillTx/>
                <a:latin typeface="Times New Roman"/>
              </a:rPr>
              <a:t>C H A P T E R  0 4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41200" defTabSz="914400">
              <a:lnSpc>
                <a:spcPts val="8141"/>
              </a:lnSpc>
              <a:spcBef>
                <a:spcPts val="629"/>
              </a:spcBef>
              <a:tabLst>
                <a:tab algn="l" pos="0"/>
              </a:tabLst>
            </a:pPr>
            <a:r>
              <a:rPr b="1" lang="en-US" sz="5400" spc="136" strike="noStrike" u="none">
                <a:solidFill>
                  <a:srgbClr val="1a1c1e"/>
                </a:solidFill>
                <a:uFillTx/>
                <a:latin typeface="Times New Roman"/>
              </a:rPr>
              <a:t>Milestone 2: Core</a:t>
            </a:r>
            <a:endParaRPr b="0" lang="en-US" sz="5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2259"/>
              </a:lnSpc>
              <a:spcBef>
                <a:spcPts val="12600"/>
              </a:spcBef>
              <a:tabLst>
                <a:tab algn="l" pos="0"/>
              </a:tabLst>
            </a:pPr>
            <a:r>
              <a:rPr b="1" lang="en-US" sz="1500" spc="37" strike="noStrike" u="none">
                <a:solidFill>
                  <a:srgbClr val="64748b"/>
                </a:solidFill>
                <a:uFillTx/>
                <a:latin typeface="Times New Roman"/>
              </a:rPr>
              <a:t>Translating user inputs into structured legal documents through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595160" defTabSz="914400">
              <a:lnSpc>
                <a:spcPts val="2259"/>
              </a:lnSpc>
              <a:tabLst>
                <a:tab algn="l" pos="0"/>
              </a:tabLst>
            </a:pPr>
            <a:r>
              <a:rPr b="1" lang="en-US" sz="1500" spc="37" strike="noStrike" u="none">
                <a:solidFill>
                  <a:srgbClr val="64748b"/>
                </a:solidFill>
                <a:uFillTx/>
                <a:latin typeface="Times New Roman"/>
              </a:rPr>
              <a:t>programmatic API management.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4" name="TextBox 6"/>
          <p:cNvSpPr/>
          <p:nvPr/>
        </p:nvSpPr>
        <p:spPr>
          <a:xfrm>
            <a:off x="9658440" y="6089760"/>
            <a:ext cx="1150200" cy="31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131"/>
              </a:lnSpc>
              <a:tabLst>
                <a:tab algn="l" pos="0"/>
              </a:tabLst>
            </a:pPr>
            <a:r>
              <a:rPr b="1" lang="en" sz="750" spc="17" strike="noStrike" u="none">
                <a:solidFill>
                  <a:srgbClr val="2a5eb2"/>
                </a:solidFill>
                <a:uFillTx/>
                <a:latin typeface="Times New Roman"/>
              </a:rPr>
              <a:t>SYSTEM PR OTOCOL</a:t>
            </a:r>
            <a:endParaRPr b="0" lang="en-US" sz="7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8160" defTabSz="914400">
              <a:lnSpc>
                <a:spcPts val="1361"/>
              </a:lnSpc>
              <a:tabLst>
                <a:tab algn="l" pos="0"/>
              </a:tabLst>
            </a:pPr>
            <a:r>
              <a:rPr b="1" lang="en-US" sz="900" spc="23" strike="noStrike" u="none">
                <a:solidFill>
                  <a:srgbClr val="64748b"/>
                </a:solidFill>
                <a:uFillTx/>
                <a:latin typeface="Times New Roman"/>
              </a:rPr>
              <a:t>v2.0.84 // STABLE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5" name="TextBox 7"/>
          <p:cNvSpPr/>
          <p:nvPr/>
        </p:nvSpPr>
        <p:spPr>
          <a:xfrm>
            <a:off x="3780720" y="3537000"/>
            <a:ext cx="4644000" cy="103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" sz="5400" spc="136" strike="noStrike" u="none">
                <a:solidFill>
                  <a:srgbClr val="1a1c1e"/>
                </a:solidFill>
                <a:uFillTx/>
                <a:latin typeface="Times New Roman"/>
              </a:rPr>
              <a:t>Development</a:t>
            </a:r>
            <a:endParaRPr b="0" lang="en-US" sz="5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6" name="TextBox 8"/>
          <p:cNvSpPr/>
          <p:nvPr/>
        </p:nvSpPr>
        <p:spPr>
          <a:xfrm>
            <a:off x="3571200" y="2783880"/>
            <a:ext cx="5061960" cy="103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" sz="5400" spc="136" strike="noStrike" u="none">
                <a:solidFill>
                  <a:srgbClr val="1a1c1e"/>
                </a:solidFill>
                <a:uFillTx/>
                <a:latin typeface="Times New Roman"/>
              </a:rPr>
              <a:t>Functionalities</a:t>
            </a:r>
            <a:endParaRPr b="0" lang="en-US" sz="5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AutoShape 2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e4e7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58" name="Picture 3" descr="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9" name="TextBox 4"/>
          <p:cNvSpPr/>
          <p:nvPr/>
        </p:nvSpPr>
        <p:spPr>
          <a:xfrm>
            <a:off x="609480" y="266760"/>
            <a:ext cx="6571800" cy="57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230"/>
              </a:lnSpc>
              <a:tabLst>
                <a:tab algn="l" pos="0"/>
              </a:tabLst>
            </a:pPr>
            <a:r>
              <a:rPr b="0" lang="en" sz="1050" spc="-26" strike="noStrike" u="none">
                <a:solidFill>
                  <a:srgbClr val="64748b"/>
                </a:solidFill>
                <a:uFillTx/>
                <a:latin typeface="Times New Roman"/>
              </a:rPr>
              <a:t>SYSTEM ARCHITECTURE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2809"/>
              </a:lnSpc>
              <a:spcBef>
                <a:spcPts val="519"/>
              </a:spcBef>
              <a:tabLst>
                <a:tab algn="l" pos="0"/>
              </a:tabLst>
            </a:pPr>
            <a:r>
              <a:rPr b="0" lang="en-US" sz="2400" spc="11" strike="noStrike" u="none">
                <a:solidFill>
                  <a:srgbClr val="1a1c1e"/>
                </a:solidFill>
                <a:uFillTx/>
                <a:latin typeface="Times New Roman"/>
              </a:rPr>
              <a:t>Backend Generation Logic &amp; Prompt Engineering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0" name="TextBox 5"/>
          <p:cNvSpPr/>
          <p:nvPr/>
        </p:nvSpPr>
        <p:spPr>
          <a:xfrm>
            <a:off x="600840" y="1452960"/>
            <a:ext cx="3154320" cy="66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451"/>
              </a:lnSpc>
              <a:tabLst>
                <a:tab algn="l" pos="0"/>
              </a:tabLst>
            </a:pPr>
            <a:r>
              <a:rPr b="0" i="1" lang="en" sz="1200" spc="31" strike="noStrike" u="none">
                <a:solidFill>
                  <a:srgbClr val="64748b"/>
                </a:solidFill>
                <a:uFillTx/>
                <a:latin typeface="Times New Roman"/>
              </a:rPr>
              <a:t>Technical code structure and prompt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451"/>
              </a:lnSpc>
              <a:spcBef>
                <a:spcPts val="499"/>
              </a:spcBef>
              <a:tabLst>
                <a:tab algn="l" pos="0"/>
              </a:tabLst>
            </a:pPr>
            <a:r>
              <a:rPr b="0" i="1" lang="en-US" sz="1200" spc="31" strike="noStrike" u="none">
                <a:solidFill>
                  <a:srgbClr val="64748b"/>
                </a:solidFill>
                <a:uFillTx/>
                <a:latin typeface="Times New Roman"/>
              </a:rPr>
              <a:t>engineering strategies used to interface the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451"/>
              </a:lnSpc>
              <a:spcBef>
                <a:spcPts val="420"/>
              </a:spcBef>
              <a:tabLst>
                <a:tab algn="l" pos="0"/>
              </a:tabLst>
            </a:pPr>
            <a:r>
              <a:rPr b="0" i="1" lang="en-US" sz="1200" spc="31" strike="noStrike" u="none">
                <a:solidFill>
                  <a:srgbClr val="64748b"/>
                </a:solidFill>
                <a:uFillTx/>
                <a:latin typeface="Times New Roman"/>
              </a:rPr>
              <a:t>backend with the Gemini API.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1" name="TextBox 6"/>
          <p:cNvSpPr/>
          <p:nvPr/>
        </p:nvSpPr>
        <p:spPr>
          <a:xfrm>
            <a:off x="4719240" y="1572120"/>
            <a:ext cx="1821960" cy="67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" sz="900" spc="11" strike="noStrike" u="none">
                <a:solidFill>
                  <a:srgbClr val="94a3b8"/>
                </a:solidFill>
                <a:uFillTx/>
                <a:latin typeface="Times New Roman"/>
              </a:rPr>
              <a:t>GEMINI_GENERATOR.PY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230"/>
              </a:lnSpc>
              <a:spcBef>
                <a:spcPts val="3101"/>
              </a:spcBef>
              <a:tabLst>
                <a:tab algn="l" pos="0"/>
              </a:tabLst>
            </a:pPr>
            <a:r>
              <a:rPr b="0" lang="en-US" sz="1050" spc="-26" strike="noStrike" u="none">
                <a:solidFill>
                  <a:srgbClr val="64748b"/>
                </a:solidFill>
                <a:uFillTx/>
                <a:latin typeface="Times New Roman"/>
              </a:rPr>
              <a:t>PROMPT CONSTRUCTION LOGIC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2" name="TextBox 7"/>
          <p:cNvSpPr/>
          <p:nvPr/>
        </p:nvSpPr>
        <p:spPr>
          <a:xfrm>
            <a:off x="876240" y="2452320"/>
            <a:ext cx="2682000" cy="22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" sz="1500" spc="37" strike="noStrike" u="none">
                <a:solidFill>
                  <a:srgbClr val="2a5eb2"/>
                </a:solidFill>
                <a:uFillTx/>
                <a:latin typeface="Times New Roman"/>
              </a:rPr>
              <a:t>Strict Pydantic schemas ensure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3" name="TextBox 8"/>
          <p:cNvSpPr/>
          <p:nvPr/>
        </p:nvSpPr>
        <p:spPr>
          <a:xfrm>
            <a:off x="876240" y="2719080"/>
            <a:ext cx="2916720" cy="48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" sz="1500" spc="37" strike="noStrike" u="none">
                <a:solidFill>
                  <a:srgbClr val="2a5eb2"/>
                </a:solidFill>
                <a:uFillTx/>
                <a:latin typeface="Times New Roman"/>
              </a:rPr>
              <a:t>valid data transmission from the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340"/>
              </a:spcBef>
              <a:tabLst>
                <a:tab algn="l" pos="0"/>
              </a:tabLst>
            </a:pPr>
            <a:r>
              <a:rPr b="0" lang="en-US" sz="1500" spc="17" strike="noStrike" u="none">
                <a:solidFill>
                  <a:srgbClr val="2a5eb2"/>
                </a:solidFill>
                <a:uFillTx/>
                <a:latin typeface="Times New Roman"/>
              </a:rPr>
              <a:t>frontend to the AI generation core.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4" name="TextBox 9"/>
          <p:cNvSpPr/>
          <p:nvPr/>
        </p:nvSpPr>
        <p:spPr>
          <a:xfrm>
            <a:off x="4947840" y="2687400"/>
            <a:ext cx="5944680" cy="55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" sz="950" spc="23" strike="noStrike" u="none">
                <a:solidFill>
                  <a:srgbClr val="60a5fa"/>
                </a:solidFill>
                <a:uFillTx/>
                <a:latin typeface="Times New Roman"/>
              </a:rPr>
              <a:t>prompt</a:t>
            </a:r>
            <a:r>
              <a:rPr b="0" lang="en-US" sz="950" strike="noStrike" u="none">
                <a:solidFill>
                  <a:srgbClr val="d1d5db"/>
                </a:solidFill>
                <a:uFillTx/>
                <a:latin typeface="Times New Roman"/>
              </a:rPr>
              <a:t> = </a:t>
            </a:r>
            <a:r>
              <a:rPr b="0" lang="en-US" sz="950" strike="noStrike" u="none">
                <a:solidFill>
                  <a:srgbClr val="4ade80"/>
                </a:solidFill>
                <a:uFillTx/>
                <a:latin typeface="Times New Roman"/>
              </a:rPr>
              <a:t>f"Generate a comprehensive legal document titled '{document_type}'\n"</a:t>
            </a:r>
            <a:r>
              <a:rPr b="0" lang="en-US" sz="950" strike="noStrike" u="none">
                <a:solidFill>
                  <a:srgbClr val="d1d5db"/>
                </a:solidFill>
                <a:uFillTx/>
                <a:latin typeface="Times New Roman"/>
              </a:rPr>
              <a:t> \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594360" defTabSz="914400">
              <a:lnSpc>
                <a:spcPct val="100000"/>
              </a:lnSpc>
              <a:spcBef>
                <a:spcPts val="541"/>
              </a:spcBef>
              <a:tabLst>
                <a:tab algn="l" pos="0"/>
              </a:tabLst>
            </a:pPr>
            <a:r>
              <a:rPr b="0" lang="en-US" sz="950" strike="noStrike" u="none">
                <a:solidFill>
                  <a:srgbClr val="d1d5db"/>
                </a:solidFill>
                <a:uFillTx/>
                <a:latin typeface="Times New Roman"/>
              </a:rPr>
              <a:t> </a:t>
            </a:r>
            <a:r>
              <a:rPr b="0" lang="en-US" sz="950" strike="noStrike" u="none">
                <a:solidFill>
                  <a:srgbClr val="4ade80"/>
                </a:solidFill>
                <a:uFillTx/>
                <a:latin typeface="Times New Roman"/>
              </a:rPr>
              <a:t>f"Involved parties: {parties}\n"</a:t>
            </a:r>
            <a:r>
              <a:rPr b="0" lang="en-US" sz="950" strike="noStrike" u="none">
                <a:solidFill>
                  <a:srgbClr val="d1d5db"/>
                </a:solidFill>
                <a:uFillTx/>
                <a:latin typeface="Times New Roman"/>
              </a:rPr>
              <a:t> \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594360" defTabSz="914400">
              <a:lnSpc>
                <a:spcPct val="100000"/>
              </a:lnSpc>
              <a:spcBef>
                <a:spcPts val="541"/>
              </a:spcBef>
              <a:tabLst>
                <a:tab algn="l" pos="0"/>
              </a:tabLst>
            </a:pPr>
            <a:r>
              <a:rPr b="0" lang="en-US" sz="950" strike="noStrike" u="none">
                <a:solidFill>
                  <a:srgbClr val="d1d5db"/>
                </a:solidFill>
                <a:uFillTx/>
                <a:latin typeface="Times New Roman"/>
              </a:rPr>
              <a:t> </a:t>
            </a:r>
            <a:r>
              <a:rPr b="0" lang="en-US" sz="950" strike="noStrike" u="none">
                <a:solidFill>
                  <a:srgbClr val="4ade80"/>
                </a:solidFill>
                <a:uFillTx/>
                <a:latin typeface="Times New Roman"/>
              </a:rPr>
              <a:t>f"Effective Date: {dates}\n"</a:t>
            </a:r>
            <a:r>
              <a:rPr b="0" lang="en-US" sz="950" strike="noStrike" u="none">
                <a:solidFill>
                  <a:srgbClr val="d1d5db"/>
                </a:solidFill>
                <a:uFillTx/>
                <a:latin typeface="Times New Roman"/>
              </a:rPr>
              <a:t> \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5" name="TextBox 10"/>
          <p:cNvSpPr/>
          <p:nvPr/>
        </p:nvSpPr>
        <p:spPr>
          <a:xfrm>
            <a:off x="609480" y="3679200"/>
            <a:ext cx="3295440" cy="19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579"/>
              </a:lnSpc>
              <a:tabLst>
                <a:tab algn="l" pos="0"/>
              </a:tabLst>
            </a:pPr>
            <a:r>
              <a:rPr b="0" lang="en-US" sz="1350" spc="-34" strike="noStrike" u="none">
                <a:solidFill>
                  <a:srgbClr val="2a5eb2"/>
                </a:solidFill>
                <a:uFillTx/>
                <a:latin typeface="Times New Roman"/>
              </a:rPr>
              <a:t>FastAPI Endpoint Mapping</a:t>
            </a:r>
            <a:endParaRPr b="0" lang="en-US" sz="13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8520" defTabSz="914400">
              <a:lnSpc>
                <a:spcPts val="1480"/>
              </a:lnSpc>
              <a:spcBef>
                <a:spcPts val="1590"/>
              </a:spcBef>
              <a:tabLst>
                <a:tab algn="l" pos="0"/>
              </a:tabLst>
            </a:pPr>
            <a:r>
              <a:rPr b="0" lang="en-US" sz="1200" spc="31" strike="noStrike" u="none">
                <a:solidFill>
                  <a:srgbClr val="1a1c1e"/>
                </a:solidFill>
                <a:uFillTx/>
                <a:latin typeface="Times New Roman"/>
              </a:rPr>
              <a:t>Exposes a </a:t>
            </a:r>
            <a:r>
              <a:rPr b="1" lang="en-US" sz="1050" spc="26" strike="noStrike" u="none">
                <a:solidFill>
                  <a:srgbClr val="2a5eb2"/>
                </a:solidFill>
                <a:uFillTx/>
                <a:latin typeface="Times New Roman"/>
              </a:rPr>
              <a:t>POST /generate</a:t>
            </a:r>
            <a:r>
              <a:rPr b="0" lang="en-US" sz="1200" spc="31" strike="noStrike" u="none">
                <a:solidFill>
                  <a:srgbClr val="1a1c1e"/>
                </a:solidFill>
                <a:uFillTx/>
                <a:latin typeface="Times New Roman"/>
              </a:rPr>
              <a:t>  endpoint for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8520" defTabSz="914400">
              <a:lnSpc>
                <a:spcPts val="1451"/>
              </a:lnSpc>
              <a:spcBef>
                <a:spcPts val="391"/>
              </a:spcBef>
              <a:tabLst>
                <a:tab algn="l" pos="0"/>
              </a:tabLst>
            </a:pPr>
            <a:r>
              <a:rPr b="0" lang="en-US" sz="1200" spc="31" strike="noStrike" u="none">
                <a:solidFill>
                  <a:srgbClr val="1a1c1e"/>
                </a:solidFill>
                <a:uFillTx/>
                <a:latin typeface="Times New Roman"/>
              </a:rPr>
              <a:t>JSON payloads.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8520" defTabSz="914400">
              <a:lnSpc>
                <a:spcPts val="1451"/>
              </a:lnSpc>
              <a:spcBef>
                <a:spcPts val="1400"/>
              </a:spcBef>
              <a:tabLst>
                <a:tab algn="l" pos="0"/>
              </a:tabLst>
            </a:pPr>
            <a:r>
              <a:rPr b="0" lang="en-US" sz="1200" spc="31" strike="noStrike" u="none">
                <a:solidFill>
                  <a:srgbClr val="1a1c1e"/>
                </a:solidFill>
                <a:uFillTx/>
                <a:latin typeface="Times New Roman"/>
              </a:rPr>
              <a:t>Structured via a Pydantic model: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8520" defTabSz="914400">
              <a:lnSpc>
                <a:spcPts val="1480"/>
              </a:lnSpc>
              <a:spcBef>
                <a:spcPts val="499"/>
              </a:spcBef>
              <a:tabLst>
                <a:tab algn="l" pos="0"/>
              </a:tabLst>
            </a:pPr>
            <a:r>
              <a:rPr b="0" lang="en-US" sz="1050" spc="26" strike="noStrike" u="none">
                <a:solidFill>
                  <a:srgbClr val="2a5eb2"/>
                </a:solidFill>
                <a:uFillTx/>
                <a:latin typeface="Times New Roman"/>
              </a:rPr>
              <a:t>DocumentRequest</a:t>
            </a:r>
            <a:r>
              <a:rPr b="0" lang="en-US" sz="1200" spc="14" strike="noStrike" u="none">
                <a:solidFill>
                  <a:srgbClr val="1a1c1e"/>
                </a:solidFill>
                <a:uFillTx/>
                <a:latin typeface="Times New Roman"/>
              </a:rPr>
              <a:t>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8520" defTabSz="914400">
              <a:lnSpc>
                <a:spcPts val="1270"/>
              </a:lnSpc>
              <a:spcBef>
                <a:spcPts val="1290"/>
              </a:spcBef>
              <a:tabLst>
                <a:tab algn="l" pos="0"/>
              </a:tabLst>
            </a:pPr>
            <a:r>
              <a:rPr b="0" lang="en-US" sz="1050" spc="26" strike="noStrike" u="none">
                <a:solidFill>
                  <a:srgbClr val="64748b"/>
                </a:solidFill>
                <a:uFillTx/>
                <a:latin typeface="Times New Roman"/>
              </a:rPr>
              <a:t>Fields processed: document_type, parties, terms,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8520" defTabSz="914400">
              <a:lnSpc>
                <a:spcPts val="1270"/>
              </a:lnSpc>
              <a:spcBef>
                <a:spcPts val="459"/>
              </a:spcBef>
              <a:tabLst>
                <a:tab algn="l" pos="0"/>
              </a:tabLst>
            </a:pPr>
            <a:r>
              <a:rPr b="0" lang="en-US" sz="1050" spc="26" strike="noStrike" u="none">
                <a:solidFill>
                  <a:srgbClr val="64748b"/>
                </a:solidFill>
                <a:uFillTx/>
                <a:latin typeface="Times New Roman"/>
              </a:rPr>
              <a:t>dates.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6" name="TextBox 11"/>
          <p:cNvSpPr/>
          <p:nvPr/>
        </p:nvSpPr>
        <p:spPr>
          <a:xfrm>
            <a:off x="5081400" y="5867280"/>
            <a:ext cx="11412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" sz="1200" strike="noStrike" u="none">
                <a:solidFill>
                  <a:srgbClr val="2a5eb2"/>
                </a:solidFill>
                <a:uFillTx/>
                <a:latin typeface="Times New Roman"/>
              </a:rPr>
              <a:t>&lt;&gt;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7" name="TextBox 12"/>
          <p:cNvSpPr/>
          <p:nvPr/>
        </p:nvSpPr>
        <p:spPr>
          <a:xfrm>
            <a:off x="5542200" y="3315960"/>
            <a:ext cx="5572440" cy="35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" sz="950" strike="noStrike" u="none">
                <a:solidFill>
                  <a:srgbClr val="d1d5db"/>
                </a:solidFill>
                <a:uFillTx/>
                <a:latin typeface="Times New Roman"/>
              </a:rPr>
              <a:t> </a:t>
            </a:r>
            <a:r>
              <a:rPr b="0" lang="en-US" sz="950" strike="noStrike" u="none">
                <a:solidFill>
                  <a:srgbClr val="4ade80"/>
                </a:solidFill>
                <a:uFillTx/>
                <a:latin typeface="Times New Roman"/>
              </a:rPr>
              <a:t>f"Terms and conditions: {terms}\n"</a:t>
            </a:r>
            <a:r>
              <a:rPr b="0" lang="en-US" sz="950" strike="noStrike" u="none">
                <a:solidFill>
                  <a:srgbClr val="d1d5db"/>
                </a:solidFill>
                <a:uFillTx/>
                <a:latin typeface="Times New Roman"/>
              </a:rPr>
              <a:t> \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541"/>
              </a:spcBef>
              <a:tabLst>
                <a:tab algn="l" pos="0"/>
              </a:tabLst>
            </a:pPr>
            <a:r>
              <a:rPr b="0" lang="en-US" sz="950" strike="noStrike" u="none">
                <a:solidFill>
                  <a:srgbClr val="d1d5db"/>
                </a:solidFill>
                <a:uFillTx/>
                <a:latin typeface="Times New Roman"/>
              </a:rPr>
              <a:t> </a:t>
            </a:r>
            <a:r>
              <a:rPr b="0" lang="en-US" sz="950" strike="noStrike" u="none">
                <a:solidFill>
                  <a:srgbClr val="4ade80"/>
                </a:solidFill>
                <a:uFillTx/>
                <a:latin typeface="Times New Roman"/>
              </a:rPr>
              <a:t>f"Ensure formal legal structure with multiple sections and legal clauses."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8" name="TextBox 13"/>
          <p:cNvSpPr/>
          <p:nvPr/>
        </p:nvSpPr>
        <p:spPr>
          <a:xfrm>
            <a:off x="695880" y="6313320"/>
            <a:ext cx="13176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" sz="1050" strike="noStrike" u="none">
                <a:solidFill>
                  <a:srgbClr val="ffffff"/>
                </a:solidFill>
                <a:uFillTx/>
                <a:latin typeface="Times New Roman"/>
              </a:rPr>
              <a:t>0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9" name="TextBox 14"/>
          <p:cNvSpPr/>
          <p:nvPr/>
        </p:nvSpPr>
        <p:spPr>
          <a:xfrm>
            <a:off x="1028880" y="6238080"/>
            <a:ext cx="2791080" cy="30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049"/>
              </a:lnSpc>
              <a:tabLst>
                <a:tab algn="l" pos="0"/>
              </a:tabLst>
            </a:pPr>
            <a:r>
              <a:rPr b="0" lang="en" sz="900" spc="23" strike="noStrike" u="none">
                <a:solidFill>
                  <a:srgbClr val="64748b"/>
                </a:solidFill>
                <a:uFillTx/>
                <a:latin typeface="Times New Roman"/>
              </a:rPr>
              <a:t>The constructed prompt is sent via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111"/>
              </a:lnSpc>
              <a:spcBef>
                <a:spcPts val="221"/>
              </a:spcBef>
              <a:tabLst>
                <a:tab algn="l" pos="0"/>
              </a:tabLst>
            </a:pPr>
            <a:r>
              <a:rPr b="0" lang="en-US" sz="900" spc="23" strike="noStrike" u="none">
                <a:solidFill>
                  <a:srgbClr val="2a5eb2"/>
                </a:solidFill>
                <a:uFillTx/>
                <a:latin typeface="Times New Roman"/>
              </a:rPr>
              <a:t>model.generate_content(prompt)</a:t>
            </a:r>
            <a:r>
              <a:rPr b="0" lang="en-US" sz="900" spc="3" strike="noStrike" u="none">
                <a:solidFill>
                  <a:srgbClr val="64748b"/>
                </a:solidFill>
                <a:uFillTx/>
                <a:latin typeface="Times New Roman"/>
              </a:rPr>
              <a:t>, returning raw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0" name="TextBox 15"/>
          <p:cNvSpPr/>
          <p:nvPr/>
        </p:nvSpPr>
        <p:spPr>
          <a:xfrm>
            <a:off x="4795560" y="6265080"/>
            <a:ext cx="681480" cy="11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" sz="750" spc="-17" strike="noStrike" u="none">
                <a:solidFill>
                  <a:srgbClr val="64748b"/>
                </a:solidFill>
                <a:uFillTx/>
                <a:latin typeface="Times New Roman"/>
              </a:rPr>
              <a:t>JSON PAYLOAD</a:t>
            </a:r>
            <a:endParaRPr b="0" lang="en-US" sz="7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1" name="TextBox 16"/>
          <p:cNvSpPr/>
          <p:nvPr/>
        </p:nvSpPr>
        <p:spPr>
          <a:xfrm>
            <a:off x="6568560" y="6265080"/>
            <a:ext cx="1029600" cy="11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" sz="750" spc="-17" strike="noStrike" u="none">
                <a:solidFill>
                  <a:srgbClr val="2a5eb2"/>
                </a:solidFill>
                <a:uFillTx/>
                <a:latin typeface="Times New Roman"/>
              </a:rPr>
              <a:t>PYDANTIC VALIDATION</a:t>
            </a:r>
            <a:endParaRPr b="0" lang="en-US" sz="7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2" name="TextBox 17"/>
          <p:cNvSpPr/>
          <p:nvPr/>
        </p:nvSpPr>
        <p:spPr>
          <a:xfrm>
            <a:off x="8684280" y="6265080"/>
            <a:ext cx="896400" cy="11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" sz="750" spc="-17" strike="noStrike" u="none">
                <a:solidFill>
                  <a:srgbClr val="64748b"/>
                </a:solidFill>
                <a:uFillTx/>
                <a:latin typeface="Times New Roman"/>
              </a:rPr>
              <a:t>PROMPT INJECTION</a:t>
            </a:r>
            <a:endParaRPr b="0" lang="en-US" sz="7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3" name="TextBox 18"/>
          <p:cNvSpPr/>
          <p:nvPr/>
        </p:nvSpPr>
        <p:spPr>
          <a:xfrm>
            <a:off x="10667880" y="6265080"/>
            <a:ext cx="596520" cy="11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" sz="750" spc="-17" strike="noStrike" u="none">
                <a:solidFill>
                  <a:srgbClr val="64748b"/>
                </a:solidFill>
                <a:uFillTx/>
                <a:latin typeface="Times New Roman"/>
              </a:rPr>
              <a:t>GEMINI CORE</a:t>
            </a:r>
            <a:endParaRPr b="0" lang="en-US" sz="7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4" name="TextBox 19"/>
          <p:cNvSpPr/>
          <p:nvPr/>
        </p:nvSpPr>
        <p:spPr>
          <a:xfrm>
            <a:off x="1028880" y="6571080"/>
            <a:ext cx="207720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049"/>
              </a:lnSpc>
              <a:tabLst>
                <a:tab algn="l" pos="0"/>
              </a:tabLst>
            </a:pPr>
            <a:r>
              <a:rPr b="0" lang="en" sz="900" spc="23" strike="noStrike" u="none">
                <a:solidFill>
                  <a:srgbClr val="64748b"/>
                </a:solidFill>
                <a:uFillTx/>
                <a:latin typeface="Times New Roman"/>
              </a:rPr>
              <a:t>structured text back to the route handler.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AutoShape 2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e4e7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76" name="Picture 3" descr="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7" name="TextBox 4"/>
          <p:cNvSpPr/>
          <p:nvPr/>
        </p:nvSpPr>
        <p:spPr>
          <a:xfrm>
            <a:off x="609480" y="304920"/>
            <a:ext cx="5595120" cy="54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230"/>
              </a:lnSpc>
              <a:tabLst>
                <a:tab algn="l" pos="0"/>
              </a:tabLst>
            </a:pPr>
            <a:r>
              <a:rPr b="0" lang="en" sz="1050" spc="26" strike="noStrike" u="none">
                <a:solidFill>
                  <a:srgbClr val="64748b"/>
                </a:solidFill>
                <a:uFillTx/>
                <a:latin typeface="Times New Roman"/>
              </a:rPr>
              <a:t>HOW THE APPLICATION TRANSFORMS RAW AI TEXT OUTPUTS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2809"/>
              </a:lnSpc>
              <a:spcBef>
                <a:spcPts val="221"/>
              </a:spcBef>
              <a:tabLst>
                <a:tab algn="l" pos="0"/>
              </a:tabLst>
            </a:pPr>
            <a:r>
              <a:rPr b="0" lang="en-US" sz="2400" spc="-9" strike="noStrike" u="none">
                <a:solidFill>
                  <a:srgbClr val="1a1c1e"/>
                </a:solidFill>
                <a:uFillTx/>
                <a:latin typeface="Times New Roman"/>
              </a:rPr>
              <a:t>Document Output Formatting &amp; Exporters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8" name="TextBox 5"/>
          <p:cNvSpPr/>
          <p:nvPr/>
        </p:nvSpPr>
        <p:spPr>
          <a:xfrm>
            <a:off x="5067360" y="1460520"/>
            <a:ext cx="319356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r" defTabSz="914400">
              <a:lnSpc>
                <a:spcPts val="1579"/>
              </a:lnSpc>
              <a:tabLst>
                <a:tab algn="l" pos="0"/>
              </a:tabLst>
            </a:pPr>
            <a:r>
              <a:rPr b="0" lang="en-US" sz="1350" spc="-34" strike="noStrike" u="none">
                <a:solidFill>
                  <a:srgbClr val="64748b"/>
                </a:solidFill>
                <a:uFillTx/>
                <a:latin typeface="Times New Roman"/>
              </a:rPr>
              <a:t>MULTI-FORMAT CONVERSION ENGINE</a:t>
            </a:r>
            <a:endParaRPr b="0" lang="en-US" sz="13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9" name="TextBox 6"/>
          <p:cNvSpPr/>
          <p:nvPr/>
        </p:nvSpPr>
        <p:spPr>
          <a:xfrm>
            <a:off x="838080" y="1672560"/>
            <a:ext cx="3268800" cy="24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930"/>
              </a:lnSpc>
              <a:tabLst>
                <a:tab algn="l" pos="0"/>
              </a:tabLst>
            </a:pPr>
            <a:r>
              <a:rPr b="0" lang="en-US" sz="1650" spc="40" strike="noStrike" u="none">
                <a:solidFill>
                  <a:srgbClr val="2a5eb2"/>
                </a:solidFill>
                <a:uFillTx/>
                <a:latin typeface="Times New Roman"/>
              </a:rPr>
              <a:t>LegalEase bridges the gap between</a:t>
            </a:r>
            <a:endParaRPr b="0" lang="en-US" sz="16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0" name="TextBox 7"/>
          <p:cNvSpPr/>
          <p:nvPr/>
        </p:nvSpPr>
        <p:spPr>
          <a:xfrm>
            <a:off x="838080" y="1967400"/>
            <a:ext cx="3544200" cy="54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" sz="1650" spc="40" strike="noStrike" u="none">
                <a:solidFill>
                  <a:srgbClr val="2a5eb2"/>
                </a:solidFill>
                <a:uFillTx/>
                <a:latin typeface="Times New Roman"/>
              </a:rPr>
              <a:t>raw text and professional presentation</a:t>
            </a:r>
            <a:endParaRPr b="0" lang="en-US" sz="16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930"/>
              </a:lnSpc>
              <a:spcBef>
                <a:spcPts val="391"/>
              </a:spcBef>
              <a:tabLst>
                <a:tab algn="l" pos="0"/>
              </a:tabLst>
            </a:pPr>
            <a:r>
              <a:rPr b="0" lang="en-US" sz="1650" spc="20" strike="noStrike" u="none">
                <a:solidFill>
                  <a:srgbClr val="2a5eb2"/>
                </a:solidFill>
                <a:uFillTx/>
                <a:latin typeface="Times New Roman"/>
              </a:rPr>
              <a:t>through automated layout engines.</a:t>
            </a:r>
            <a:endParaRPr b="0" lang="en-US" sz="16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1" name="TextBox 8"/>
          <p:cNvSpPr/>
          <p:nvPr/>
        </p:nvSpPr>
        <p:spPr>
          <a:xfrm>
            <a:off x="5306040" y="2204640"/>
            <a:ext cx="1418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" sz="1500" strike="noStrike" u="none">
                <a:solidFill>
                  <a:srgbClr val="2a5eb2"/>
                </a:solidFill>
                <a:uFillTx/>
                <a:latin typeface="Times New Roman"/>
              </a:rPr>
              <a:t>W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2" name="TextBox 9"/>
          <p:cNvSpPr/>
          <p:nvPr/>
        </p:nvSpPr>
        <p:spPr>
          <a:xfrm>
            <a:off x="5638680" y="2216160"/>
            <a:ext cx="2468520" cy="17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" sz="1200" strike="noStrike" u="none">
                <a:solidFill>
                  <a:srgbClr val="2a5eb2"/>
                </a:solidFill>
                <a:uFillTx/>
                <a:latin typeface="Times New Roman"/>
              </a:rPr>
              <a:t>format_docx(text, doc_type)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3" name="TextBox 10"/>
          <p:cNvSpPr/>
          <p:nvPr/>
        </p:nvSpPr>
        <p:spPr>
          <a:xfrm>
            <a:off x="2291040" y="3783240"/>
            <a:ext cx="634680" cy="12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" sz="800" spc="-20" strike="noStrike" u="none">
                <a:solidFill>
                  <a:srgbClr val="64748b"/>
                </a:solidFill>
                <a:uFillTx/>
                <a:latin typeface="Times New Roman"/>
              </a:rPr>
              <a:t>RAW AI TEXT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4" name="TextBox 11"/>
          <p:cNvSpPr/>
          <p:nvPr/>
        </p:nvSpPr>
        <p:spPr>
          <a:xfrm>
            <a:off x="5610960" y="2594520"/>
            <a:ext cx="4485240" cy="102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270"/>
              </a:lnSpc>
              <a:tabLst>
                <a:tab algn="l" pos="0"/>
              </a:tabLst>
            </a:pPr>
            <a:r>
              <a:rPr b="0" lang="en" sz="1050" spc="26" strike="noStrike" u="none">
                <a:solidFill>
                  <a:srgbClr val="1a1c1e"/>
                </a:solidFill>
                <a:uFillTx/>
                <a:latin typeface="Times New Roman"/>
              </a:rPr>
              <a:t>Converts raw text into Microsoft Word format.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270"/>
              </a:lnSpc>
              <a:spcBef>
                <a:spcPts val="981"/>
              </a:spcBef>
              <a:tabLst>
                <a:tab algn="l" pos="0"/>
              </a:tabLst>
            </a:pPr>
            <a:r>
              <a:rPr b="0" lang="en-US" sz="1050" spc="26" strike="noStrike" u="none">
                <a:solidFill>
                  <a:srgbClr val="1a1c1e"/>
                </a:solidFill>
                <a:uFillTx/>
                <a:latin typeface="Times New Roman"/>
              </a:rPr>
              <a:t>Automatically embeds custom company logos and branding elements.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270"/>
              </a:lnSpc>
              <a:spcBef>
                <a:spcPts val="1060"/>
              </a:spcBef>
              <a:tabLst>
                <a:tab algn="l" pos="0"/>
              </a:tabLst>
            </a:pPr>
            <a:r>
              <a:rPr b="0" lang="en-US" sz="1050" spc="26" strike="noStrike" u="none">
                <a:solidFill>
                  <a:srgbClr val="1a1c1e"/>
                </a:solidFill>
                <a:uFillTx/>
                <a:latin typeface="Times New Roman"/>
              </a:rPr>
              <a:t>Sets typography to professional standards (Times New Roman).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270"/>
              </a:lnSpc>
              <a:spcBef>
                <a:spcPts val="981"/>
              </a:spcBef>
              <a:tabLst>
                <a:tab algn="l" pos="0"/>
              </a:tabLst>
            </a:pPr>
            <a:r>
              <a:rPr b="0" lang="en-US" sz="1050" spc="26" strike="noStrike" u="none">
                <a:solidFill>
                  <a:srgbClr val="1a1c1e"/>
                </a:solidFill>
                <a:uFillTx/>
                <a:latin typeface="Times New Roman"/>
              </a:rPr>
              <a:t>Formats defined terms into structured tables and appends legal footers.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5" name="TextBox 12"/>
          <p:cNvSpPr/>
          <p:nvPr/>
        </p:nvSpPr>
        <p:spPr>
          <a:xfrm>
            <a:off x="1971000" y="4479120"/>
            <a:ext cx="127332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marL="34200" defTabSz="914400">
              <a:lnSpc>
                <a:spcPts val="1140"/>
              </a:lnSpc>
              <a:tabLst>
                <a:tab algn="l" pos="0"/>
              </a:tabLst>
            </a:pPr>
            <a:r>
              <a:rPr b="0" lang="en" sz="950" spc="-23" strike="noStrike" u="none">
                <a:solidFill>
                  <a:srgbClr val="ffffff"/>
                </a:solidFill>
                <a:uFillTx/>
                <a:latin typeface="Times New Roman"/>
              </a:rPr>
              <a:t>CONVERSION ENGINE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839"/>
              </a:lnSpc>
              <a:spcBef>
                <a:spcPts val="349"/>
              </a:spcBef>
              <a:tabLst>
                <a:tab algn="l" pos="0"/>
              </a:tabLst>
            </a:pPr>
            <a:r>
              <a:rPr b="0" lang="en-US" sz="650" spc="17" strike="noStrike" u="none">
                <a:solidFill>
                  <a:srgbClr val="ffffff"/>
                </a:solidFill>
                <a:uFillTx/>
                <a:latin typeface="Times New Roman"/>
              </a:rPr>
              <a:t>Automated Layout &amp; Branding</a:t>
            </a:r>
            <a:endParaRPr b="0" lang="en-US" sz="6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6" name="TextBox 13"/>
          <p:cNvSpPr/>
          <p:nvPr/>
        </p:nvSpPr>
        <p:spPr>
          <a:xfrm>
            <a:off x="5610960" y="4349880"/>
            <a:ext cx="3323160" cy="54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marL="28080" defTabSz="914400">
              <a:lnSpc>
                <a:spcPct val="100000"/>
              </a:lnSpc>
              <a:tabLst>
                <a:tab algn="l" pos="0"/>
              </a:tabLst>
            </a:pPr>
            <a:r>
              <a:rPr b="1" lang="en" sz="1200" strike="noStrike" u="none">
                <a:solidFill>
                  <a:srgbClr val="2a5eb2"/>
                </a:solidFill>
                <a:uFillTx/>
                <a:latin typeface="Times New Roman"/>
              </a:rPr>
              <a:t>format_pdf(text, doc_type)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281"/>
              </a:lnSpc>
              <a:spcBef>
                <a:spcPts val="1621"/>
              </a:spcBef>
              <a:tabLst>
                <a:tab algn="l" pos="0"/>
              </a:tabLst>
            </a:pPr>
            <a:r>
              <a:rPr b="0" lang="en-US" sz="1050" spc="26" strike="noStrike" u="none">
                <a:solidFill>
                  <a:srgbClr val="1a1c1e"/>
                </a:solidFill>
                <a:uFillTx/>
                <a:latin typeface="Times New Roman"/>
              </a:rPr>
              <a:t>Utilizes the fpdf library for high-precision compilation.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7" name="TextBox 14"/>
          <p:cNvSpPr/>
          <p:nvPr/>
        </p:nvSpPr>
        <p:spPr>
          <a:xfrm>
            <a:off x="5610960" y="5014080"/>
            <a:ext cx="4419360" cy="44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270"/>
              </a:lnSpc>
              <a:tabLst>
                <a:tab algn="l" pos="0"/>
              </a:tabLst>
            </a:pPr>
            <a:r>
              <a:rPr b="0" lang="en" sz="1050" spc="26" strike="noStrike" u="none">
                <a:solidFill>
                  <a:srgbClr val="1a1c1e"/>
                </a:solidFill>
                <a:uFillTx/>
                <a:latin typeface="Times New Roman"/>
              </a:rPr>
              <a:t>Ensures clean, branded PDF documents with unalterable formatting.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270"/>
              </a:lnSpc>
              <a:spcBef>
                <a:spcPts val="981"/>
              </a:spcBef>
              <a:tabLst>
                <a:tab algn="l" pos="0"/>
              </a:tabLst>
            </a:pPr>
            <a:r>
              <a:rPr b="0" lang="en-US" sz="1050" spc="26" strike="noStrike" u="none">
                <a:solidFill>
                  <a:srgbClr val="1a1c1e"/>
                </a:solidFill>
                <a:uFillTx/>
                <a:latin typeface="Times New Roman"/>
              </a:rPr>
              <a:t>Features consistent dynamic headers and automated page numbering.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8" name="TextBox 15"/>
          <p:cNvSpPr/>
          <p:nvPr/>
        </p:nvSpPr>
        <p:spPr>
          <a:xfrm>
            <a:off x="1226880" y="5605920"/>
            <a:ext cx="276480" cy="12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" sz="800" spc="-20" strike="noStrike" u="none">
                <a:solidFill>
                  <a:srgbClr val="1a1c1e"/>
                </a:solidFill>
                <a:uFillTx/>
                <a:latin typeface="Times New Roman"/>
              </a:rPr>
              <a:t>DOCX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9" name="TextBox 16"/>
          <p:cNvSpPr/>
          <p:nvPr/>
        </p:nvSpPr>
        <p:spPr>
          <a:xfrm>
            <a:off x="2514600" y="5605920"/>
            <a:ext cx="191520" cy="12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" sz="800" spc="-20" strike="noStrike" u="none">
                <a:solidFill>
                  <a:srgbClr val="1a1c1e"/>
                </a:solidFill>
                <a:uFillTx/>
                <a:latin typeface="Times New Roman"/>
              </a:rPr>
              <a:t>PDF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0" name="TextBox 17"/>
          <p:cNvSpPr/>
          <p:nvPr/>
        </p:nvSpPr>
        <p:spPr>
          <a:xfrm>
            <a:off x="3707280" y="5605920"/>
            <a:ext cx="294120" cy="12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" sz="800" spc="-20" strike="noStrike" u="none">
                <a:solidFill>
                  <a:srgbClr val="1a1c1e"/>
                </a:solidFill>
                <a:uFillTx/>
                <a:latin typeface="Times New Roman"/>
              </a:rPr>
              <a:t>HTML</a:t>
            </a:r>
            <a:endParaRPr b="0" lang="en-US" sz="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1" name="TextBox 18"/>
          <p:cNvSpPr/>
          <p:nvPr/>
        </p:nvSpPr>
        <p:spPr>
          <a:xfrm>
            <a:off x="5306040" y="6177240"/>
            <a:ext cx="23724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" sz="1500" strike="noStrike" u="none">
                <a:solidFill>
                  <a:srgbClr val="64748b"/>
                </a:solidFill>
                <a:uFillTx/>
                <a:latin typeface="Times New Roman"/>
              </a:rPr>
              <a:t>&lt;/&gt;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2" name="TextBox 19"/>
          <p:cNvSpPr/>
          <p:nvPr/>
        </p:nvSpPr>
        <p:spPr>
          <a:xfrm>
            <a:off x="5734080" y="6188760"/>
            <a:ext cx="2285640" cy="17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" sz="1200" spc="31" strike="noStrike" u="none">
                <a:solidFill>
                  <a:srgbClr val="2a5eb2"/>
                </a:solidFill>
                <a:uFillTx/>
                <a:latin typeface="Times New Roman"/>
              </a:rPr>
              <a:t>format_html_preview(text)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3" name="TextBox 20"/>
          <p:cNvSpPr/>
          <p:nvPr/>
        </p:nvSpPr>
        <p:spPr>
          <a:xfrm>
            <a:off x="5610960" y="6567120"/>
            <a:ext cx="4247640" cy="16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270"/>
              </a:lnSpc>
              <a:tabLst>
                <a:tab algn="l" pos="0"/>
              </a:tabLst>
            </a:pPr>
            <a:r>
              <a:rPr b="0" lang="en" sz="1050" spc="26" strike="noStrike" u="none">
                <a:solidFill>
                  <a:srgbClr val="1a1c1e"/>
                </a:solidFill>
                <a:uFillTx/>
                <a:latin typeface="Times New Roman"/>
              </a:rPr>
              <a:t>Renders a styled preview directly inside the Streamlit user interface.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AutoShape 2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e4e7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95" name="Picture 3" descr="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6" name="TextBox 4"/>
          <p:cNvSpPr/>
          <p:nvPr/>
        </p:nvSpPr>
        <p:spPr>
          <a:xfrm>
            <a:off x="609480" y="266760"/>
            <a:ext cx="5276520" cy="57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230"/>
              </a:lnSpc>
              <a:tabLst>
                <a:tab algn="l" pos="0"/>
              </a:tabLst>
            </a:pPr>
            <a:r>
              <a:rPr b="0" lang="en" sz="1050" spc="-6" strike="noStrike" u="none">
                <a:solidFill>
                  <a:srgbClr val="64748b"/>
                </a:solidFill>
                <a:uFillTx/>
                <a:latin typeface="Times New Roman"/>
              </a:rPr>
              <a:t>FRONTEND IMPLEMENTATION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2809"/>
              </a:lnSpc>
              <a:spcBef>
                <a:spcPts val="519"/>
              </a:spcBef>
              <a:tabLst>
                <a:tab algn="l" pos="0"/>
              </a:tabLst>
            </a:pPr>
            <a:r>
              <a:rPr b="0" lang="en-US" sz="2400" spc="11" strike="noStrike" u="none">
                <a:solidFill>
                  <a:srgbClr val="1a1c1e"/>
                </a:solidFill>
                <a:uFillTx/>
                <a:latin typeface="Times New Roman"/>
              </a:rPr>
              <a:t>Frontend UI &amp; Interactive Session State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7" name="TextBox 5"/>
          <p:cNvSpPr/>
          <p:nvPr/>
        </p:nvSpPr>
        <p:spPr>
          <a:xfrm>
            <a:off x="876240" y="1803240"/>
            <a:ext cx="6869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579"/>
              </a:lnSpc>
              <a:tabLst>
                <a:tab algn="l" pos="0"/>
              </a:tabLst>
            </a:pPr>
            <a:r>
              <a:rPr b="0" lang="en" sz="1350" spc="11" strike="noStrike" u="none">
                <a:solidFill>
                  <a:srgbClr val="2a5eb2"/>
                </a:solidFill>
                <a:uFillTx/>
                <a:latin typeface="Times New Roman"/>
              </a:rPr>
              <a:t>Detailed breakdown of the Streamlit frontend implementation, showing input collection and</a:t>
            </a:r>
            <a:endParaRPr b="0" lang="en-US" sz="13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579"/>
              </a:lnSpc>
              <a:spcBef>
                <a:spcPts val="439"/>
              </a:spcBef>
              <a:tabLst>
                <a:tab algn="l" pos="0"/>
              </a:tabLst>
            </a:pPr>
            <a:r>
              <a:rPr b="0" lang="en-US" sz="1350" spc="34" strike="noStrike" u="none">
                <a:solidFill>
                  <a:srgbClr val="2a5eb2"/>
                </a:solidFill>
                <a:uFillTx/>
                <a:latin typeface="Times New Roman"/>
              </a:rPr>
              <a:t>stateful editing features.</a:t>
            </a:r>
            <a:endParaRPr b="0" lang="en-US" sz="13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8" name="TextBox 6"/>
          <p:cNvSpPr/>
          <p:nvPr/>
        </p:nvSpPr>
        <p:spPr>
          <a:xfrm>
            <a:off x="8661240" y="2002680"/>
            <a:ext cx="114516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579"/>
              </a:lnSpc>
              <a:tabLst>
                <a:tab algn="l" pos="0"/>
              </a:tabLst>
            </a:pPr>
            <a:r>
              <a:rPr b="0" lang="en" sz="1350" strike="noStrike" u="none">
                <a:solidFill>
                  <a:srgbClr val="1a1c1e"/>
                </a:solidFill>
                <a:uFillTx/>
                <a:latin typeface="Times New Roman"/>
              </a:rPr>
              <a:t>Action Triggers</a:t>
            </a:r>
            <a:endParaRPr b="0" lang="en-US" sz="13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9" name="TextBox 7"/>
          <p:cNvSpPr/>
          <p:nvPr/>
        </p:nvSpPr>
        <p:spPr>
          <a:xfrm>
            <a:off x="609480" y="2736720"/>
            <a:ext cx="230724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579"/>
              </a:lnSpc>
              <a:tabLst>
                <a:tab algn="l" pos="0"/>
              </a:tabLst>
            </a:pPr>
            <a:r>
              <a:rPr b="0" lang="en-US" sz="1350" spc="34" strike="noStrike" u="none">
                <a:solidFill>
                  <a:srgbClr val="2a5eb2"/>
                </a:solidFill>
                <a:uFillTx/>
                <a:latin typeface="Times New Roman"/>
              </a:rPr>
              <a:t>User Interface Components</a:t>
            </a:r>
            <a:endParaRPr b="0" lang="en-US" sz="13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0" name="TextBox 8"/>
          <p:cNvSpPr/>
          <p:nvPr/>
        </p:nvSpPr>
        <p:spPr>
          <a:xfrm>
            <a:off x="8661240" y="2570400"/>
            <a:ext cx="86436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049"/>
              </a:lnSpc>
              <a:tabLst>
                <a:tab algn="l" pos="0"/>
              </a:tabLst>
            </a:pPr>
            <a:r>
              <a:rPr b="0" lang="en" sz="900" spc="-23" strike="noStrike" u="none">
                <a:solidFill>
                  <a:srgbClr val="2a5eb2"/>
                </a:solidFill>
                <a:uFillTx/>
                <a:latin typeface="Times New Roman"/>
              </a:rPr>
              <a:t>TXT DOWNLOAD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1" name="TextBox 9"/>
          <p:cNvSpPr/>
          <p:nvPr/>
        </p:nvSpPr>
        <p:spPr>
          <a:xfrm>
            <a:off x="4602600" y="2961720"/>
            <a:ext cx="133956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049"/>
              </a:lnSpc>
              <a:tabLst>
                <a:tab algn="l" pos="0"/>
              </a:tabLst>
            </a:pPr>
            <a:r>
              <a:rPr b="0" lang="en" sz="900" spc="-23" strike="noStrike" u="none">
                <a:solidFill>
                  <a:srgbClr val="94a3b8"/>
                </a:solidFill>
                <a:uFillTx/>
                <a:latin typeface="Times New Roman"/>
              </a:rPr>
              <a:t>SESSION STATE LOGIC LOOP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2" name="TextBox 10"/>
          <p:cNvSpPr/>
          <p:nvPr/>
        </p:nvSpPr>
        <p:spPr>
          <a:xfrm>
            <a:off x="8822520" y="2956680"/>
            <a:ext cx="1839960" cy="1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" sz="1050" strike="noStrike" u="none">
                <a:solidFill>
                  <a:srgbClr val="64748b"/>
                </a:solidFill>
                <a:uFillTx/>
                <a:latin typeface="Times New Roman"/>
              </a:rPr>
              <a:t>st.download_button(...)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3" name="TextBox 11"/>
          <p:cNvSpPr/>
          <p:nvPr/>
        </p:nvSpPr>
        <p:spPr>
          <a:xfrm>
            <a:off x="857160" y="3134520"/>
            <a:ext cx="3125160" cy="36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230"/>
              </a:lnSpc>
              <a:tabLst>
                <a:tab algn="l" pos="0"/>
              </a:tabLst>
            </a:pPr>
            <a:r>
              <a:rPr b="0" lang="en" sz="1050" spc="14" strike="noStrike" u="none">
                <a:solidFill>
                  <a:srgbClr val="1a1c1e"/>
                </a:solidFill>
                <a:uFillTx/>
                <a:latin typeface="Times New Roman"/>
              </a:rPr>
              <a:t>Input Management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290"/>
              </a:lnSpc>
              <a:spcBef>
                <a:spcPts val="371"/>
              </a:spcBef>
              <a:tabLst>
                <a:tab algn="l" pos="0"/>
              </a:tabLst>
            </a:pPr>
            <a:r>
              <a:rPr b="0" lang="en-US" sz="1050" spc="26" strike="noStrike" u="none">
                <a:solidFill>
                  <a:srgbClr val="64748b"/>
                </a:solidFill>
                <a:uFillTx/>
                <a:latin typeface="Times New Roman"/>
              </a:rPr>
              <a:t>Employs </a:t>
            </a:r>
            <a:r>
              <a:rPr b="0" lang="en-US" sz="900" strike="noStrike" u="none">
                <a:solidFill>
                  <a:srgbClr val="2a5eb2"/>
                </a:solidFill>
                <a:uFillTx/>
                <a:latin typeface="Times New Roman"/>
              </a:rPr>
              <a:t>st.text_input</a:t>
            </a:r>
            <a:r>
              <a:rPr b="0" lang="en-US" sz="1050" spc="26" strike="noStrike" u="none">
                <a:solidFill>
                  <a:srgbClr val="64748b"/>
                </a:solidFill>
                <a:uFillTx/>
                <a:latin typeface="Times New Roman"/>
              </a:rPr>
              <a:t>  for concise variables and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4" name="TextBox 12"/>
          <p:cNvSpPr/>
          <p:nvPr/>
        </p:nvSpPr>
        <p:spPr>
          <a:xfrm>
            <a:off x="895320" y="3557160"/>
            <a:ext cx="222336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290"/>
              </a:lnSpc>
              <a:tabLst>
                <a:tab algn="l" pos="0"/>
              </a:tabLst>
            </a:pPr>
            <a:r>
              <a:rPr b="0" lang="en" sz="900" strike="noStrike" u="none">
                <a:solidFill>
                  <a:srgbClr val="2a5eb2"/>
                </a:solidFill>
                <a:uFillTx/>
                <a:latin typeface="Times New Roman"/>
              </a:rPr>
              <a:t>st.text_area</a:t>
            </a:r>
            <a:r>
              <a:rPr b="0" lang="en-US" sz="1050" spc="26" strike="noStrike" u="none">
                <a:solidFill>
                  <a:srgbClr val="64748b"/>
                </a:solidFill>
                <a:uFillTx/>
                <a:latin typeface="Times New Roman"/>
              </a:rPr>
              <a:t>  for multi-line content.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5" name="TextBox 13"/>
          <p:cNvSpPr/>
          <p:nvPr/>
        </p:nvSpPr>
        <p:spPr>
          <a:xfrm>
            <a:off x="5692320" y="3573720"/>
            <a:ext cx="866880" cy="13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" sz="900" spc="-23" strike="noStrike" u="none">
                <a:solidFill>
                  <a:srgbClr val="2a5eb2"/>
                </a:solidFill>
                <a:uFillTx/>
                <a:latin typeface="Times New Roman"/>
              </a:rPr>
              <a:t>INPUT MODULE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6" name="TextBox 14"/>
          <p:cNvSpPr/>
          <p:nvPr/>
        </p:nvSpPr>
        <p:spPr>
          <a:xfrm>
            <a:off x="8661240" y="3580200"/>
            <a:ext cx="95976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049"/>
              </a:lnSpc>
              <a:tabLst>
                <a:tab algn="l" pos="0"/>
              </a:tabLst>
            </a:pPr>
            <a:r>
              <a:rPr b="0" lang="en" sz="900" spc="-23" strike="noStrike" u="none">
                <a:solidFill>
                  <a:srgbClr val="2a5eb2"/>
                </a:solidFill>
                <a:uFillTx/>
                <a:latin typeface="Times New Roman"/>
              </a:rPr>
              <a:t>DOCX DOWNLOAD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7" name="TextBox 15"/>
          <p:cNvSpPr/>
          <p:nvPr/>
        </p:nvSpPr>
        <p:spPr>
          <a:xfrm>
            <a:off x="11153160" y="3571200"/>
            <a:ext cx="11412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" sz="1200" strike="noStrike" u="none">
                <a:solidFill>
                  <a:srgbClr val="94a3b8"/>
                </a:solidFill>
                <a:uFillTx/>
                <a:latin typeface="Times New Roman"/>
              </a:rPr>
              <a:t>W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8" name="TextBox 16"/>
          <p:cNvSpPr/>
          <p:nvPr/>
        </p:nvSpPr>
        <p:spPr>
          <a:xfrm>
            <a:off x="857160" y="3924360"/>
            <a:ext cx="903960" cy="1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230"/>
              </a:lnSpc>
              <a:tabLst>
                <a:tab algn="l" pos="0"/>
              </a:tabLst>
            </a:pPr>
            <a:r>
              <a:rPr b="0" lang="en" sz="1050" spc="3" strike="noStrike" u="none">
                <a:solidFill>
                  <a:srgbClr val="1a1c1e"/>
                </a:solidFill>
                <a:uFillTx/>
                <a:latin typeface="Times New Roman"/>
              </a:rPr>
              <a:t>Stateful Editing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9" name="TextBox 17"/>
          <p:cNvSpPr/>
          <p:nvPr/>
        </p:nvSpPr>
        <p:spPr>
          <a:xfrm>
            <a:off x="8822520" y="3966120"/>
            <a:ext cx="1359720" cy="1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" sz="1050" spc="26" strike="noStrike" u="none">
                <a:solidFill>
                  <a:srgbClr val="64748b"/>
                </a:solidFill>
                <a:uFillTx/>
                <a:latin typeface="Times New Roman"/>
              </a:rPr>
              <a:t>format_docx(data)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0" name="TextBox 18"/>
          <p:cNvSpPr/>
          <p:nvPr/>
        </p:nvSpPr>
        <p:spPr>
          <a:xfrm>
            <a:off x="857160" y="4128840"/>
            <a:ext cx="306540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290"/>
              </a:lnSpc>
              <a:tabLst>
                <a:tab algn="l" pos="0"/>
              </a:tabLst>
            </a:pPr>
            <a:r>
              <a:rPr b="0" lang="en" sz="1050" spc="26" strike="noStrike" u="none">
                <a:solidFill>
                  <a:srgbClr val="64748b"/>
                </a:solidFill>
                <a:uFillTx/>
                <a:latin typeface="Times New Roman"/>
              </a:rPr>
              <a:t>Direct text modification enabled when </a:t>
            </a:r>
            <a:r>
              <a:rPr b="0" lang="en-US" sz="900" spc="23" strike="noStrike" u="none">
                <a:solidFill>
                  <a:srgbClr val="2a5eb2"/>
                </a:solidFill>
                <a:uFillTx/>
                <a:latin typeface="Times New Roman"/>
              </a:rPr>
              <a:t>show_edit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1" name="TextBox 19"/>
          <p:cNvSpPr/>
          <p:nvPr/>
        </p:nvSpPr>
        <p:spPr>
          <a:xfrm>
            <a:off x="857160" y="4338360"/>
            <a:ext cx="1019520" cy="16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270"/>
              </a:lnSpc>
              <a:tabLst>
                <a:tab algn="l" pos="0"/>
              </a:tabLst>
            </a:pPr>
            <a:r>
              <a:rPr b="0" lang="en" sz="1050" spc="26" strike="noStrike" u="none">
                <a:solidFill>
                  <a:srgbClr val="64748b"/>
                </a:solidFill>
                <a:uFillTx/>
                <a:latin typeface="Times New Roman"/>
              </a:rPr>
              <a:t>condition is met.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2" name="TextBox 20"/>
          <p:cNvSpPr/>
          <p:nvPr/>
        </p:nvSpPr>
        <p:spPr>
          <a:xfrm>
            <a:off x="5678280" y="4347360"/>
            <a:ext cx="894960" cy="31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" sz="900" spc="-3" strike="noStrike" u="none">
                <a:solidFill>
                  <a:srgbClr val="ffffff"/>
                </a:solidFill>
                <a:uFillTx/>
                <a:latin typeface="Times New Roman"/>
              </a:rPr>
              <a:t>SESSION STATE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09080" defTabSz="914400">
              <a:lnSpc>
                <a:spcPct val="100000"/>
              </a:lnSpc>
              <a:spcBef>
                <a:spcPts val="451"/>
              </a:spcBef>
              <a:tabLst>
                <a:tab algn="l" pos="0"/>
              </a:tabLst>
            </a:pPr>
            <a:r>
              <a:rPr b="0" lang="en-US" sz="750" spc="17" strike="noStrike" u="none">
                <a:solidFill>
                  <a:srgbClr val="ffffff"/>
                </a:solidFill>
                <a:uFillTx/>
                <a:latin typeface="Times New Roman"/>
              </a:rPr>
              <a:t>generated_text</a:t>
            </a:r>
            <a:endParaRPr b="0" lang="en-US" sz="7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3" name="TextBox 21"/>
          <p:cNvSpPr/>
          <p:nvPr/>
        </p:nvSpPr>
        <p:spPr>
          <a:xfrm>
            <a:off x="8661240" y="4589640"/>
            <a:ext cx="87480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049"/>
              </a:lnSpc>
              <a:tabLst>
                <a:tab algn="l" pos="0"/>
              </a:tabLst>
            </a:pPr>
            <a:r>
              <a:rPr b="0" lang="en" sz="900" spc="-23" strike="noStrike" u="none">
                <a:solidFill>
                  <a:srgbClr val="2a5eb2"/>
                </a:solidFill>
                <a:uFillTx/>
                <a:latin typeface="Times New Roman"/>
              </a:rPr>
              <a:t>PDF DOWNLOAD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4" name="TextBox 22"/>
          <p:cNvSpPr/>
          <p:nvPr/>
        </p:nvSpPr>
        <p:spPr>
          <a:xfrm>
            <a:off x="848520" y="5161320"/>
            <a:ext cx="930600" cy="1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049"/>
              </a:lnSpc>
              <a:tabLst>
                <a:tab algn="l" pos="0"/>
              </a:tabLst>
            </a:pPr>
            <a:r>
              <a:rPr b="0" lang="en" sz="900" spc="-23" strike="noStrike" u="none">
                <a:solidFill>
                  <a:srgbClr val="94a3b8"/>
                </a:solidFill>
                <a:uFillTx/>
                <a:latin typeface="Times New Roman"/>
              </a:rPr>
              <a:t>CORE PHILOSOPHY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5" name="TextBox 23"/>
          <p:cNvSpPr/>
          <p:nvPr/>
        </p:nvSpPr>
        <p:spPr>
          <a:xfrm>
            <a:off x="8822520" y="4975920"/>
            <a:ext cx="1279800" cy="1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" sz="1050" spc="26" strike="noStrike" u="none">
                <a:solidFill>
                  <a:srgbClr val="64748b"/>
                </a:solidFill>
                <a:uFillTx/>
                <a:latin typeface="Times New Roman"/>
              </a:rPr>
              <a:t>format_pdf(data)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6" name="TextBox 24"/>
          <p:cNvSpPr/>
          <p:nvPr/>
        </p:nvSpPr>
        <p:spPr>
          <a:xfrm>
            <a:off x="848520" y="5415120"/>
            <a:ext cx="3014640" cy="66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451"/>
              </a:lnSpc>
              <a:tabLst>
                <a:tab algn="l" pos="0"/>
              </a:tabLst>
            </a:pPr>
            <a:r>
              <a:rPr b="0" lang="en" sz="1200" spc="31" strike="noStrike" u="none">
                <a:solidFill>
                  <a:srgbClr val="1a1c1e"/>
                </a:solidFill>
                <a:uFillTx/>
                <a:latin typeface="Times New Roman"/>
              </a:rPr>
              <a:t>The frontend provides an </a:t>
            </a:r>
            <a:r>
              <a:rPr b="0" lang="en-US" sz="1200" spc="-11" strike="noStrike" u="none">
                <a:solidFill>
                  <a:srgbClr val="2a5eb2"/>
                </a:solidFill>
                <a:uFillTx/>
                <a:latin typeface="Times New Roman"/>
              </a:rPr>
              <a:t>intuitive,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451"/>
              </a:lnSpc>
              <a:spcBef>
                <a:spcPts val="499"/>
              </a:spcBef>
              <a:tabLst>
                <a:tab algn="l" pos="0"/>
              </a:tabLst>
            </a:pPr>
            <a:r>
              <a:rPr b="0" lang="en-US" sz="1200" spc="31" strike="noStrike" u="none">
                <a:solidFill>
                  <a:srgbClr val="2a5eb2"/>
                </a:solidFill>
                <a:uFillTx/>
                <a:latin typeface="Times New Roman"/>
              </a:rPr>
              <a:t>interactive workspace</a:t>
            </a:r>
            <a:r>
              <a:rPr b="0" lang="en-US" sz="1200" spc="31" strike="noStrike" u="none">
                <a:solidFill>
                  <a:srgbClr val="1a1c1e"/>
                </a:solidFill>
                <a:uFillTx/>
                <a:latin typeface="Times New Roman"/>
              </a:rPr>
              <a:t> allowing immediate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451"/>
              </a:lnSpc>
              <a:spcBef>
                <a:spcPts val="420"/>
              </a:spcBef>
              <a:tabLst>
                <a:tab algn="l" pos="0"/>
              </a:tabLst>
            </a:pPr>
            <a:r>
              <a:rPr b="0" lang="en-US" sz="1200" spc="31" strike="noStrike" u="none">
                <a:solidFill>
                  <a:srgbClr val="1a1c1e"/>
                </a:solidFill>
                <a:uFillTx/>
                <a:latin typeface="Times New Roman"/>
              </a:rPr>
              <a:t>text modification and multi-format export.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7" name="TextBox 25"/>
          <p:cNvSpPr/>
          <p:nvPr/>
        </p:nvSpPr>
        <p:spPr>
          <a:xfrm>
            <a:off x="5219640" y="5596920"/>
            <a:ext cx="1806840" cy="50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marL="491400" defTabSz="914400">
              <a:lnSpc>
                <a:spcPct val="100000"/>
              </a:lnSpc>
              <a:tabLst>
                <a:tab algn="l" pos="0"/>
              </a:tabLst>
            </a:pPr>
            <a:r>
              <a:rPr b="0" lang="en" sz="900" spc="-23" strike="noStrike" u="none">
                <a:solidFill>
                  <a:srgbClr val="2a5eb2"/>
                </a:solidFill>
                <a:uFillTx/>
                <a:latin typeface="Times New Roman"/>
              </a:rPr>
              <a:t>EDIT / EXPORT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3000"/>
              </a:lnSpc>
              <a:spcBef>
                <a:spcPts val="1879"/>
              </a:spcBef>
              <a:tabLst>
                <a:tab algn="l" pos="0"/>
              </a:tabLst>
            </a:pPr>
            <a:r>
              <a:rPr b="0" i="1" lang="en-US" sz="800" spc="20" strike="noStrike" u="none">
                <a:solidFill>
                  <a:srgbClr val="64748b"/>
                </a:solidFill>
                <a:uFillTx/>
                <a:latin typeface="Times New Roman"/>
              </a:rPr>
              <a:t>Real-time synchronization of </a:t>
            </a:r>
            <a:r>
              <a:rPr b="0" i="1" lang="en-US" sz="750" spc="17" strike="noStrike" u="none">
                <a:solidFill>
                  <a:srgbClr val="64748b"/>
                </a:solidFill>
                <a:uFillTx/>
                <a:latin typeface="Times New Roman"/>
              </a:rPr>
              <a:t>app.py</a:t>
            </a:r>
            <a:endParaRPr b="0" lang="en-US" sz="7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8" name="TextBox 26"/>
          <p:cNvSpPr/>
          <p:nvPr/>
        </p:nvSpPr>
        <p:spPr>
          <a:xfrm>
            <a:off x="8661240" y="5642640"/>
            <a:ext cx="2542320" cy="29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091"/>
              </a:lnSpc>
              <a:tabLst>
                <a:tab algn="l" pos="0"/>
              </a:tabLst>
            </a:pPr>
            <a:r>
              <a:rPr b="0" lang="en" sz="900" spc="23" strike="noStrike" u="none">
                <a:solidFill>
                  <a:srgbClr val="64748b"/>
                </a:solidFill>
                <a:uFillTx/>
                <a:latin typeface="Times New Roman"/>
              </a:rPr>
              <a:t>* Interactive text area rendered at </a:t>
            </a:r>
            <a:r>
              <a:rPr b="0" lang="en-US" sz="900" spc="23" strike="noStrike" u="none">
                <a:solidFill>
                  <a:srgbClr val="64748b"/>
                </a:solidFill>
                <a:uFillTx/>
                <a:latin typeface="Times New Roman"/>
              </a:rPr>
              <a:t>300px height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1"/>
              </a:spcBef>
              <a:tabLst>
                <a:tab algn="l" pos="0"/>
              </a:tabLst>
            </a:pPr>
            <a:r>
              <a:rPr b="0" lang="en-US" sz="900" spc="23" strike="noStrike" u="none">
                <a:solidFill>
                  <a:srgbClr val="64748b"/>
                </a:solidFill>
                <a:uFillTx/>
                <a:latin typeface="Times New Roman"/>
              </a:rPr>
              <a:t>upon state trigger.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AutoShape 2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2f4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0" name="AutoShape 3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dfdf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1" name="AutoShape 4"/>
          <p:cNvSpPr/>
          <p:nvPr/>
        </p:nvSpPr>
        <p:spPr>
          <a:xfrm>
            <a:off x="0" y="1619280"/>
            <a:ext cx="12191760" cy="3619080"/>
          </a:xfrm>
          <a:prstGeom prst="rect">
            <a:avLst/>
          </a:prstGeom>
          <a:solidFill>
            <a:srgbClr val="ffffff">
              <a:alpha val="2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222" name="Connector 5"/>
          <p:cNvCxnSpPr/>
          <p:nvPr/>
        </p:nvCxnSpPr>
        <p:spPr>
          <a:xfrm>
            <a:off x="0" y="1623600"/>
            <a:ext cx="12192120" cy="360"/>
          </a:xfrm>
          <a:prstGeom prst="straightConnector1">
            <a:avLst/>
          </a:prstGeom>
          <a:ln w="8890">
            <a:solidFill>
              <a:srgbClr val="e2e7f0"/>
            </a:solidFill>
            <a:round/>
          </a:ln>
        </p:spPr>
      </p:cxnSp>
      <p:cxnSp>
        <p:nvCxnSpPr>
          <p:cNvPr id="223" name="Connector 6"/>
          <p:cNvCxnSpPr/>
          <p:nvPr/>
        </p:nvCxnSpPr>
        <p:spPr>
          <a:xfrm>
            <a:off x="0" y="5234040"/>
            <a:ext cx="12192120" cy="360"/>
          </a:xfrm>
          <a:prstGeom prst="straightConnector1">
            <a:avLst/>
          </a:prstGeom>
          <a:ln w="8890">
            <a:solidFill>
              <a:srgbClr val="e2e7f0"/>
            </a:solidFill>
            <a:round/>
          </a:ln>
        </p:spPr>
      </p:cxnSp>
      <p:cxnSp>
        <p:nvCxnSpPr>
          <p:cNvPr id="224" name="Connector 7"/>
          <p:cNvCxnSpPr/>
          <p:nvPr/>
        </p:nvCxnSpPr>
        <p:spPr>
          <a:xfrm>
            <a:off x="1238040" y="1627920"/>
            <a:ext cx="360" cy="3602160"/>
          </a:xfrm>
          <a:prstGeom prst="straightConnector1">
            <a:avLst/>
          </a:prstGeom>
          <a:ln w="38100">
            <a:solidFill>
              <a:srgbClr val="295db1"/>
            </a:solidFill>
            <a:round/>
          </a:ln>
        </p:spPr>
      </p:cxnSp>
      <p:pic>
        <p:nvPicPr>
          <p:cNvPr id="225" name="Picture 8" descr=""/>
          <p:cNvPicPr/>
          <p:nvPr/>
        </p:nvPicPr>
        <p:blipFill>
          <a:blip r:embed="rId1"/>
          <a:stretch/>
        </p:blipFill>
        <p:spPr>
          <a:xfrm>
            <a:off x="0" y="1619280"/>
            <a:ext cx="12191760" cy="8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6" name="Picture 9" descr=""/>
          <p:cNvPicPr/>
          <p:nvPr/>
        </p:nvPicPr>
        <p:blipFill>
          <a:blip r:embed="rId2"/>
          <a:stretch/>
        </p:blipFill>
        <p:spPr>
          <a:xfrm>
            <a:off x="0" y="5229720"/>
            <a:ext cx="12191760" cy="8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7" name="Picture 10" descr=""/>
          <p:cNvPicPr/>
          <p:nvPr/>
        </p:nvPicPr>
        <p:blipFill>
          <a:blip r:embed="rId3"/>
          <a:stretch/>
        </p:blipFill>
        <p:spPr>
          <a:xfrm>
            <a:off x="1219320" y="1628280"/>
            <a:ext cx="37800" cy="360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8" name="TextBox 11"/>
          <p:cNvSpPr/>
          <p:nvPr/>
        </p:nvSpPr>
        <p:spPr>
          <a:xfrm>
            <a:off x="2486520" y="2156400"/>
            <a:ext cx="7171200" cy="265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2259"/>
              </a:lnSpc>
              <a:tabLst>
                <a:tab algn="l" pos="0"/>
              </a:tabLst>
            </a:pPr>
            <a:r>
              <a:rPr b="1" lang="en" sz="1500" spc="37" strike="noStrike" u="none">
                <a:solidFill>
                  <a:srgbClr val="2a5eb2"/>
                </a:solidFill>
                <a:uFillTx/>
                <a:latin typeface="Times New Roman"/>
              </a:rPr>
              <a:t>T R A N S I T I O N I N G  T H E  A P P L I C A T I O N  F R O M  A  L O C A L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536040" defTabSz="914400">
              <a:lnSpc>
                <a:spcPts val="8141"/>
              </a:lnSpc>
              <a:spcBef>
                <a:spcPts val="10531"/>
              </a:spcBef>
              <a:tabLst>
                <a:tab algn="l" pos="0"/>
              </a:tabLst>
            </a:pPr>
            <a:r>
              <a:rPr b="1" lang="en-US" sz="5400" spc="136" strike="noStrike" u="none">
                <a:solidFill>
                  <a:srgbClr val="1a1c1e"/>
                </a:solidFill>
                <a:uFillTx/>
                <a:latin typeface="Times New Roman"/>
              </a:rPr>
              <a:t>Project Conclusion</a:t>
            </a:r>
            <a:endParaRPr b="0" lang="en-US" sz="5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9" name="TextBox 12"/>
          <p:cNvSpPr/>
          <p:nvPr/>
        </p:nvSpPr>
        <p:spPr>
          <a:xfrm>
            <a:off x="4772520" y="2613600"/>
            <a:ext cx="259920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" sz="1500" strike="noStrike" u="none">
                <a:solidFill>
                  <a:srgbClr val="2a5eb2"/>
                </a:solidFill>
                <a:uFillTx/>
                <a:latin typeface="Times New Roman"/>
              </a:rPr>
              <a:t>I N F R A S T R U C T U R E .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0" name="TextBox 13"/>
          <p:cNvSpPr/>
          <p:nvPr/>
        </p:nvSpPr>
        <p:spPr>
          <a:xfrm>
            <a:off x="3224520" y="2385000"/>
            <a:ext cx="569304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" sz="1500" spc="17" strike="noStrike" u="none">
                <a:solidFill>
                  <a:srgbClr val="2a5eb2"/>
                </a:solidFill>
                <a:uFillTx/>
                <a:latin typeface="Times New Roman"/>
              </a:rPr>
              <a:t>D E V E L O P M E N T  E N V I R O N M E N T  T O  C L O U D</a:t>
            </a:r>
            <a:endParaRPr b="0" lang="en-US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1" name="TextBox 14"/>
          <p:cNvSpPr/>
          <p:nvPr/>
        </p:nvSpPr>
        <p:spPr>
          <a:xfrm>
            <a:off x="3172320" y="3027600"/>
            <a:ext cx="5878440" cy="103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" sz="5400" spc="136" strike="noStrike" u="none">
                <a:solidFill>
                  <a:srgbClr val="1a1c1e"/>
                </a:solidFill>
                <a:uFillTx/>
                <a:latin typeface="Times New Roman"/>
              </a:rPr>
              <a:t>05 Deployment &amp;</a:t>
            </a:r>
            <a:endParaRPr b="0" lang="en-US" sz="5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AutoShape 2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2f4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33" name="Picture 3" descr="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4" name="TextBox 4"/>
          <p:cNvSpPr/>
          <p:nvPr/>
        </p:nvSpPr>
        <p:spPr>
          <a:xfrm>
            <a:off x="609480" y="276840"/>
            <a:ext cx="5124240" cy="130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230"/>
              </a:lnSpc>
              <a:tabLst>
                <a:tab algn="l" pos="0"/>
              </a:tabLst>
            </a:pPr>
            <a:r>
              <a:rPr b="0" lang="en" sz="1050" spc="6" strike="noStrike" u="none">
                <a:solidFill>
                  <a:srgbClr val="64748b"/>
                </a:solidFill>
                <a:uFillTx/>
                <a:latin typeface="Times New Roman"/>
              </a:rPr>
              <a:t>ECOSYSTEM RELEASE ARCHITECTURE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510"/>
              </a:spcBef>
              <a:tabLst>
                <a:tab algn="l" pos="0"/>
              </a:tabLst>
            </a:pPr>
            <a:r>
              <a:rPr b="0" lang="en-US" sz="2400" spc="14" strike="noStrike" u="none">
                <a:solidFill>
                  <a:srgbClr val="1a1c1e"/>
                </a:solidFill>
                <a:uFillTx/>
                <a:latin typeface="Times New Roman"/>
              </a:rPr>
              <a:t>Deployment Strategies &amp; Final Testing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049"/>
              </a:lnSpc>
              <a:spcBef>
                <a:spcPts val="4649"/>
              </a:spcBef>
              <a:tabLst>
                <a:tab algn="l" pos="0"/>
              </a:tabLst>
            </a:pPr>
            <a:r>
              <a:rPr b="0" lang="en-US" sz="900" strike="noStrike" u="none">
                <a:solidFill>
                  <a:srgbClr val="94a3b8"/>
                </a:solidFill>
                <a:uFillTx/>
                <a:latin typeface="Times New Roman"/>
              </a:rPr>
              <a:t>SLIDE OVERVIEW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5" name="TextBox 5"/>
          <p:cNvSpPr/>
          <p:nvPr/>
        </p:nvSpPr>
        <p:spPr>
          <a:xfrm>
            <a:off x="609480" y="1738800"/>
            <a:ext cx="3177360" cy="18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451"/>
              </a:lnSpc>
              <a:tabLst>
                <a:tab algn="l" pos="0"/>
              </a:tabLst>
            </a:pPr>
            <a:r>
              <a:rPr b="0" lang="en" sz="1200" spc="31" strike="noStrike" u="none">
                <a:solidFill>
                  <a:srgbClr val="64748b"/>
                </a:solidFill>
                <a:uFillTx/>
                <a:latin typeface="Times New Roman"/>
              </a:rPr>
              <a:t>The final steps required to package, deploy,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6" name="TextBox 6"/>
          <p:cNvSpPr/>
          <p:nvPr/>
        </p:nvSpPr>
        <p:spPr>
          <a:xfrm>
            <a:off x="4467960" y="1698120"/>
            <a:ext cx="30312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579"/>
              </a:lnSpc>
              <a:tabLst>
                <a:tab algn="l" pos="0"/>
              </a:tabLst>
            </a:pPr>
            <a:r>
              <a:rPr b="0" lang="en-US" sz="1350" spc="-3" strike="noStrike" u="none">
                <a:solidFill>
                  <a:srgbClr val="1a1c1e"/>
                </a:solidFill>
                <a:uFillTx/>
                <a:latin typeface="Times New Roman"/>
              </a:rPr>
              <a:t>Cloud Hosting Infrastructure Options</a:t>
            </a:r>
            <a:endParaRPr b="0" lang="en-US" sz="13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7" name="TextBox 7"/>
          <p:cNvSpPr/>
          <p:nvPr/>
        </p:nvSpPr>
        <p:spPr>
          <a:xfrm>
            <a:off x="609480" y="1986120"/>
            <a:ext cx="2895120" cy="18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451"/>
              </a:lnSpc>
              <a:tabLst>
                <a:tab algn="l" pos="0"/>
              </a:tabLst>
            </a:pPr>
            <a:r>
              <a:rPr b="0" lang="en" sz="1200" spc="31" strike="noStrike" u="none">
                <a:solidFill>
                  <a:srgbClr val="64748b"/>
                </a:solidFill>
                <a:uFillTx/>
                <a:latin typeface="Times New Roman"/>
              </a:rPr>
              <a:t>and verify the LegalEase ecosystem in a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8" name="TextBox 8"/>
          <p:cNvSpPr/>
          <p:nvPr/>
        </p:nvSpPr>
        <p:spPr>
          <a:xfrm>
            <a:off x="609480" y="2223720"/>
            <a:ext cx="2205720" cy="18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451"/>
              </a:lnSpc>
              <a:tabLst>
                <a:tab algn="l" pos="0"/>
              </a:tabLst>
            </a:pPr>
            <a:r>
              <a:rPr b="0" lang="en" sz="1200" spc="31" strike="noStrike" u="none">
                <a:solidFill>
                  <a:srgbClr val="64748b"/>
                </a:solidFill>
                <a:uFillTx/>
                <a:latin typeface="Times New Roman"/>
              </a:rPr>
              <a:t>production cloud environment.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9" name="TextBox 9"/>
          <p:cNvSpPr/>
          <p:nvPr/>
        </p:nvSpPr>
        <p:spPr>
          <a:xfrm>
            <a:off x="4637880" y="2353320"/>
            <a:ext cx="1037160" cy="1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230"/>
              </a:lnSpc>
              <a:tabLst>
                <a:tab algn="l" pos="0"/>
              </a:tabLst>
            </a:pPr>
            <a:r>
              <a:rPr b="0" lang="en" sz="1050" spc="6" strike="noStrike" u="none">
                <a:solidFill>
                  <a:srgbClr val="2a5eb2"/>
                </a:solidFill>
                <a:uFillTx/>
                <a:latin typeface="Times New Roman"/>
              </a:rPr>
              <a:t>Frontend Hosting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0" name="TextBox 10"/>
          <p:cNvSpPr/>
          <p:nvPr/>
        </p:nvSpPr>
        <p:spPr>
          <a:xfrm>
            <a:off x="8172360" y="2353320"/>
            <a:ext cx="1008000" cy="15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230"/>
              </a:lnSpc>
              <a:tabLst>
                <a:tab algn="l" pos="0"/>
              </a:tabLst>
            </a:pPr>
            <a:r>
              <a:rPr b="0" lang="en" sz="1050" spc="14" strike="noStrike" u="none">
                <a:solidFill>
                  <a:srgbClr val="2a5eb2"/>
                </a:solidFill>
                <a:uFillTx/>
                <a:latin typeface="Times New Roman"/>
              </a:rPr>
              <a:t>Backend Hosting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1" name="TextBox 11"/>
          <p:cNvSpPr/>
          <p:nvPr/>
        </p:nvSpPr>
        <p:spPr>
          <a:xfrm>
            <a:off x="4467960" y="2604600"/>
            <a:ext cx="3150360" cy="215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marL="170280" defTabSz="914400">
              <a:lnSpc>
                <a:spcPct val="100000"/>
              </a:lnSpc>
              <a:tabLst>
                <a:tab algn="l" pos="0"/>
              </a:tabLst>
            </a:pPr>
            <a:r>
              <a:rPr b="0" lang="en" sz="950" spc="23" strike="noStrike" u="none">
                <a:solidFill>
                  <a:srgbClr val="1a1c1e"/>
                </a:solidFill>
                <a:uFillTx/>
                <a:latin typeface="Times New Roman"/>
              </a:rPr>
              <a:t>Streamlit Community Cloud, Render, or Railway for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70280" defTabSz="914400">
              <a:lnSpc>
                <a:spcPct val="100000"/>
              </a:lnSpc>
              <a:spcBef>
                <a:spcPts val="320"/>
              </a:spcBef>
              <a:tabLst>
                <a:tab algn="l" pos="0"/>
              </a:tabLst>
            </a:pPr>
            <a:r>
              <a:rPr b="0" lang="en-US" sz="950" spc="23" strike="noStrike" u="none">
                <a:solidFill>
                  <a:srgbClr val="1a1c1e"/>
                </a:solidFill>
                <a:uFillTx/>
                <a:latin typeface="Times New Roman"/>
              </a:rPr>
              <a:t>rapid UI deployment.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579"/>
              </a:lnSpc>
              <a:spcBef>
                <a:spcPts val="7430"/>
              </a:spcBef>
              <a:tabLst>
                <a:tab algn="l" pos="0"/>
              </a:tabLst>
            </a:pPr>
            <a:r>
              <a:rPr b="0" lang="en-US" sz="1350" spc="3" strike="noStrike" u="none">
                <a:solidFill>
                  <a:srgbClr val="1a1c1e"/>
                </a:solidFill>
                <a:uFillTx/>
                <a:latin typeface="Times New Roman"/>
              </a:rPr>
              <a:t>Production Preparation</a:t>
            </a:r>
            <a:endParaRPr b="0" lang="en-US" sz="13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46240" defTabSz="914400">
              <a:lnSpc>
                <a:spcPts val="1270"/>
              </a:lnSpc>
              <a:spcBef>
                <a:spcPts val="2409"/>
              </a:spcBef>
              <a:tabLst>
                <a:tab algn="l" pos="0"/>
              </a:tabLst>
            </a:pPr>
            <a:r>
              <a:rPr b="0" lang="en-US" sz="1050" spc="26" strike="noStrike" u="none">
                <a:solidFill>
                  <a:srgbClr val="1a1c1e"/>
                </a:solidFill>
                <a:uFillTx/>
                <a:latin typeface="Times New Roman"/>
              </a:rPr>
              <a:t>Consolidate production-ready dependencies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46240" defTabSz="914400">
              <a:lnSpc>
                <a:spcPts val="1290"/>
              </a:lnSpc>
              <a:spcBef>
                <a:spcPts val="300"/>
              </a:spcBef>
              <a:tabLst>
                <a:tab algn="l" pos="0"/>
              </a:tabLst>
            </a:pPr>
            <a:r>
              <a:rPr b="0" lang="en-US" sz="1050" spc="26" strike="noStrike" u="none">
                <a:solidFill>
                  <a:srgbClr val="1a1c1e"/>
                </a:solidFill>
                <a:uFillTx/>
                <a:latin typeface="Times New Roman"/>
              </a:rPr>
              <a:t>within a verified </a:t>
            </a:r>
            <a:r>
              <a:rPr b="0" lang="en-US" sz="900" strike="noStrike" u="none">
                <a:solidFill>
                  <a:srgbClr val="2a5eb2"/>
                </a:solidFill>
                <a:uFillTx/>
                <a:latin typeface="Times New Roman"/>
              </a:rPr>
              <a:t>requirements.txt</a:t>
            </a:r>
            <a:r>
              <a:rPr b="0" lang="en-US" sz="1050" spc="26" strike="noStrike" u="none">
                <a:solidFill>
                  <a:srgbClr val="1a1c1e"/>
                </a:solidFill>
                <a:uFillTx/>
                <a:latin typeface="Times New Roman"/>
              </a:rPr>
              <a:t>  file.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2" name="TextBox 12"/>
          <p:cNvSpPr/>
          <p:nvPr/>
        </p:nvSpPr>
        <p:spPr>
          <a:xfrm>
            <a:off x="8172360" y="2604600"/>
            <a:ext cx="2979000" cy="215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" sz="950" spc="23" strike="noStrike" u="none">
                <a:solidFill>
                  <a:srgbClr val="1a1c1e"/>
                </a:solidFill>
                <a:uFillTx/>
                <a:latin typeface="Times New Roman"/>
              </a:rPr>
              <a:t>Fly.io, Railway, or dedicated Virtual Private Servers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320"/>
              </a:spcBef>
              <a:tabLst>
                <a:tab algn="l" pos="0"/>
              </a:tabLst>
            </a:pPr>
            <a:r>
              <a:rPr b="0" lang="en-US" sz="950" spc="23" strike="noStrike" u="none">
                <a:solidFill>
                  <a:srgbClr val="1a1c1e"/>
                </a:solidFill>
                <a:uFillTx/>
                <a:latin typeface="Times New Roman"/>
              </a:rPr>
              <a:t>(VPS) to manage sustained FastAPI request traffic.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67320" defTabSz="914400">
              <a:lnSpc>
                <a:spcPts val="1579"/>
              </a:lnSpc>
              <a:spcBef>
                <a:spcPts val="7430"/>
              </a:spcBef>
              <a:tabLst>
                <a:tab algn="l" pos="0"/>
              </a:tabLst>
            </a:pPr>
            <a:r>
              <a:rPr b="0" lang="en-US" sz="1350" spc="-34" strike="noStrike" u="none">
                <a:solidFill>
                  <a:srgbClr val="1a1c1e"/>
                </a:solidFill>
                <a:uFillTx/>
                <a:latin typeface="Times New Roman"/>
              </a:rPr>
              <a:t>Activity 6: Testing &amp; QA</a:t>
            </a:r>
            <a:endParaRPr b="0" lang="en-US" sz="13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13560" defTabSz="914400">
              <a:lnSpc>
                <a:spcPts val="1270"/>
              </a:lnSpc>
              <a:spcBef>
                <a:spcPts val="2409"/>
              </a:spcBef>
              <a:tabLst>
                <a:tab algn="l" pos="0"/>
              </a:tabLst>
            </a:pPr>
            <a:r>
              <a:rPr b="0" lang="en-US" sz="1050" spc="26" strike="noStrike" u="none">
                <a:solidFill>
                  <a:srgbClr val="1a1c1e"/>
                </a:solidFill>
                <a:uFillTx/>
                <a:latin typeface="Times New Roman"/>
              </a:rPr>
              <a:t>Conduct rigorous end-to-end functionality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13560" defTabSz="914400">
              <a:lnSpc>
                <a:spcPts val="1270"/>
              </a:lnSpc>
              <a:spcBef>
                <a:spcPts val="300"/>
              </a:spcBef>
              <a:tabLst>
                <a:tab algn="l" pos="0"/>
              </a:tabLst>
            </a:pPr>
            <a:r>
              <a:rPr b="0" lang="en-US" sz="1050" spc="26" strike="noStrike" u="none">
                <a:solidFill>
                  <a:srgbClr val="1a1c1e"/>
                </a:solidFill>
                <a:uFillTx/>
                <a:latin typeface="Times New Roman"/>
              </a:rPr>
              <a:t>testing across diverse input combinations.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3" name="TextBox 13"/>
          <p:cNvSpPr/>
          <p:nvPr/>
        </p:nvSpPr>
        <p:spPr>
          <a:xfrm>
            <a:off x="876240" y="5065920"/>
            <a:ext cx="2279160" cy="45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049"/>
              </a:lnSpc>
              <a:tabLst>
                <a:tab algn="l" pos="0"/>
              </a:tabLst>
            </a:pPr>
            <a:r>
              <a:rPr b="0" lang="en" sz="900" spc="-23" strike="noStrike" u="none">
                <a:solidFill>
                  <a:srgbClr val="2a5eb2"/>
                </a:solidFill>
                <a:uFillTx/>
                <a:latin typeface="Times New Roman"/>
              </a:rPr>
              <a:t>CORE PRINCIPLE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579"/>
              </a:lnSpc>
              <a:spcBef>
                <a:spcPts val="930"/>
              </a:spcBef>
              <a:tabLst>
                <a:tab algn="l" pos="0"/>
              </a:tabLst>
            </a:pPr>
            <a:r>
              <a:rPr b="0" lang="en-US" sz="1350" spc="34" strike="noStrike" u="none">
                <a:solidFill>
                  <a:srgbClr val="2a5eb2"/>
                </a:solidFill>
                <a:uFillTx/>
                <a:latin typeface="Times New Roman"/>
              </a:rPr>
              <a:t>Decoupled deployment allows</a:t>
            </a:r>
            <a:endParaRPr b="0" lang="en-US" sz="13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4" name="TextBox 14"/>
          <p:cNvSpPr/>
          <p:nvPr/>
        </p:nvSpPr>
        <p:spPr>
          <a:xfrm>
            <a:off x="4714200" y="4956840"/>
            <a:ext cx="272124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270"/>
              </a:lnSpc>
              <a:tabLst>
                <a:tab algn="l" pos="0"/>
              </a:tabLst>
            </a:pPr>
            <a:r>
              <a:rPr b="0" lang="en" sz="1050" spc="26" strike="noStrike" u="none">
                <a:solidFill>
                  <a:srgbClr val="1a1c1e"/>
                </a:solidFill>
                <a:uFillTx/>
                <a:latin typeface="Times New Roman"/>
              </a:rPr>
              <a:t>Configure operational runtime parameters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290"/>
              </a:lnSpc>
              <a:spcBef>
                <a:spcPts val="309"/>
              </a:spcBef>
              <a:tabLst>
                <a:tab algn="l" pos="0"/>
              </a:tabLst>
            </a:pPr>
            <a:r>
              <a:rPr b="0" lang="en-US" sz="1050" spc="26" strike="noStrike" u="none">
                <a:solidFill>
                  <a:srgbClr val="1a1c1e"/>
                </a:solidFill>
                <a:uFillTx/>
                <a:latin typeface="Times New Roman"/>
              </a:rPr>
              <a:t>using a </a:t>
            </a:r>
            <a:r>
              <a:rPr b="0" lang="en-US" sz="900" strike="noStrike" u="none">
                <a:solidFill>
                  <a:srgbClr val="2a5eb2"/>
                </a:solidFill>
                <a:uFillTx/>
                <a:latin typeface="Times New Roman"/>
              </a:rPr>
              <a:t>Procfile</a:t>
            </a:r>
            <a:r>
              <a:rPr b="0" lang="en-US" sz="1050" spc="26" strike="noStrike" u="none">
                <a:solidFill>
                  <a:srgbClr val="1a1c1e"/>
                </a:solidFill>
                <a:uFillTx/>
                <a:latin typeface="Times New Roman"/>
              </a:rPr>
              <a:t>  or standard </a:t>
            </a:r>
            <a:r>
              <a:rPr b="0" lang="en-US" sz="900" spc="23" strike="noStrike" u="none">
                <a:solidFill>
                  <a:srgbClr val="2a5eb2"/>
                </a:solidFill>
                <a:uFillTx/>
                <a:latin typeface="Times New Roman"/>
              </a:rPr>
              <a:t>Dockerfile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270"/>
              </a:lnSpc>
              <a:spcBef>
                <a:spcPts val="360"/>
              </a:spcBef>
              <a:tabLst>
                <a:tab algn="l" pos="0"/>
              </a:tabLst>
            </a:pPr>
            <a:r>
              <a:rPr b="0" lang="en-US" sz="1050" spc="26" strike="noStrike" u="none">
                <a:solidFill>
                  <a:srgbClr val="1a1c1e"/>
                </a:solidFill>
                <a:uFillTx/>
                <a:latin typeface="Times New Roman"/>
              </a:rPr>
              <a:t>configurations.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5" name="TextBox 15"/>
          <p:cNvSpPr/>
          <p:nvPr/>
        </p:nvSpPr>
        <p:spPr>
          <a:xfrm>
            <a:off x="8486280" y="4947840"/>
            <a:ext cx="2850840" cy="56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270"/>
              </a:lnSpc>
              <a:tabLst>
                <a:tab algn="l" pos="0"/>
              </a:tabLst>
            </a:pPr>
            <a:r>
              <a:rPr b="0" lang="en" sz="1050" spc="26" strike="noStrike" u="none">
                <a:solidFill>
                  <a:srgbClr val="1a1c1e"/>
                </a:solidFill>
                <a:uFillTx/>
                <a:latin typeface="Times New Roman"/>
              </a:rPr>
              <a:t>Validate Gemini API integration stability under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270"/>
              </a:lnSpc>
              <a:spcBef>
                <a:spcPts val="300"/>
              </a:spcBef>
              <a:tabLst>
                <a:tab algn="l" pos="0"/>
              </a:tabLst>
            </a:pPr>
            <a:r>
              <a:rPr b="0" lang="en-US" sz="1050" spc="26" strike="noStrike" u="none">
                <a:solidFill>
                  <a:srgbClr val="1a1c1e"/>
                </a:solidFill>
                <a:uFillTx/>
                <a:latin typeface="Times New Roman"/>
              </a:rPr>
              <a:t>varying network conditions and edge-case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270"/>
              </a:lnSpc>
              <a:spcBef>
                <a:spcPts val="309"/>
              </a:spcBef>
              <a:tabLst>
                <a:tab algn="l" pos="0"/>
              </a:tabLst>
            </a:pPr>
            <a:r>
              <a:rPr b="0" lang="en-US" sz="1050" spc="26" strike="noStrike" u="none">
                <a:solidFill>
                  <a:srgbClr val="1a1c1e"/>
                </a:solidFill>
                <a:uFillTx/>
                <a:latin typeface="Times New Roman"/>
              </a:rPr>
              <a:t>inputs.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6" name="TextBox 16"/>
          <p:cNvSpPr/>
          <p:nvPr/>
        </p:nvSpPr>
        <p:spPr>
          <a:xfrm>
            <a:off x="876240" y="5565240"/>
            <a:ext cx="2732760" cy="43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defTabSz="914400">
              <a:lnSpc>
                <a:spcPts val="1579"/>
              </a:lnSpc>
              <a:tabLst>
                <a:tab algn="l" pos="0"/>
              </a:tabLst>
            </a:pPr>
            <a:r>
              <a:rPr b="0" lang="en" sz="1350" spc="34" strike="noStrike" u="none">
                <a:solidFill>
                  <a:srgbClr val="2a5eb2"/>
                </a:solidFill>
                <a:uFillTx/>
                <a:latin typeface="Times New Roman"/>
              </a:rPr>
              <a:t>independent scaling of the Streamlit</a:t>
            </a:r>
            <a:endParaRPr b="0" lang="en-US" sz="13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579"/>
              </a:lnSpc>
              <a:spcBef>
                <a:spcPts val="300"/>
              </a:spcBef>
              <a:tabLst>
                <a:tab algn="l" pos="0"/>
              </a:tabLst>
            </a:pPr>
            <a:r>
              <a:rPr b="0" lang="en-US" sz="1350" spc="6" strike="noStrike" u="none">
                <a:solidFill>
                  <a:srgbClr val="2a5eb2"/>
                </a:solidFill>
                <a:uFillTx/>
                <a:latin typeface="Times New Roman"/>
              </a:rPr>
              <a:t>frontend and the FastAPI backend.</a:t>
            </a:r>
            <a:endParaRPr b="0" lang="en-US" sz="13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AutoShape 2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2f4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8" name="AutoShape 3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dfdf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49" name="Picture 4" descr="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250" name="Connector 5"/>
          <p:cNvCxnSpPr/>
          <p:nvPr/>
        </p:nvCxnSpPr>
        <p:spPr>
          <a:xfrm>
            <a:off x="609480" y="614520"/>
            <a:ext cx="1219680" cy="360"/>
          </a:xfrm>
          <a:prstGeom prst="straightConnector1">
            <a:avLst/>
          </a:prstGeom>
          <a:ln w="10160">
            <a:solidFill>
              <a:srgbClr val="295db1"/>
            </a:solidFill>
            <a:round/>
          </a:ln>
        </p:spPr>
      </p:cxnSp>
      <p:cxnSp>
        <p:nvCxnSpPr>
          <p:cNvPr id="251" name="Connector 6"/>
          <p:cNvCxnSpPr/>
          <p:nvPr/>
        </p:nvCxnSpPr>
        <p:spPr>
          <a:xfrm>
            <a:off x="614520" y="609480"/>
            <a:ext cx="360" cy="1219680"/>
          </a:xfrm>
          <a:prstGeom prst="straightConnector1">
            <a:avLst/>
          </a:prstGeom>
          <a:ln w="10160">
            <a:solidFill>
              <a:srgbClr val="295db1"/>
            </a:solidFill>
            <a:round/>
          </a:ln>
        </p:spPr>
      </p:cxnSp>
      <p:cxnSp>
        <p:nvCxnSpPr>
          <p:cNvPr id="252" name="Connector 7"/>
          <p:cNvCxnSpPr/>
          <p:nvPr/>
        </p:nvCxnSpPr>
        <p:spPr>
          <a:xfrm>
            <a:off x="10362960" y="6243120"/>
            <a:ext cx="1219680" cy="360"/>
          </a:xfrm>
          <a:prstGeom prst="straightConnector1">
            <a:avLst/>
          </a:prstGeom>
          <a:ln w="10160">
            <a:solidFill>
              <a:srgbClr val="295db1"/>
            </a:solidFill>
            <a:round/>
          </a:ln>
        </p:spPr>
      </p:cxnSp>
      <p:cxnSp>
        <p:nvCxnSpPr>
          <p:cNvPr id="253" name="Connector 8"/>
          <p:cNvCxnSpPr/>
          <p:nvPr/>
        </p:nvCxnSpPr>
        <p:spPr>
          <a:xfrm>
            <a:off x="11577240" y="5029200"/>
            <a:ext cx="360" cy="1219320"/>
          </a:xfrm>
          <a:prstGeom prst="straightConnector1">
            <a:avLst/>
          </a:prstGeom>
          <a:ln w="10160">
            <a:solidFill>
              <a:srgbClr val="295db1"/>
            </a:solidFill>
            <a:round/>
          </a:ln>
        </p:spPr>
      </p:cxnSp>
      <p:sp>
        <p:nvSpPr>
          <p:cNvPr id="254" name="AutoShape 9"/>
          <p:cNvSpPr/>
          <p:nvPr/>
        </p:nvSpPr>
        <p:spPr>
          <a:xfrm>
            <a:off x="2504520" y="3876120"/>
            <a:ext cx="7182720" cy="1810800"/>
          </a:xfrm>
          <a:prstGeom prst="rect">
            <a:avLst/>
          </a:prstGeom>
          <a:solidFill>
            <a:srgbClr val="ffffff">
              <a:alpha val="7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255" name="Connector 10"/>
          <p:cNvCxnSpPr/>
          <p:nvPr/>
        </p:nvCxnSpPr>
        <p:spPr>
          <a:xfrm>
            <a:off x="2533320" y="3886200"/>
            <a:ext cx="360" cy="1791000"/>
          </a:xfrm>
          <a:prstGeom prst="straightConnector1">
            <a:avLst/>
          </a:prstGeom>
          <a:ln w="38100">
            <a:solidFill>
              <a:srgbClr val="295db1"/>
            </a:solidFill>
            <a:round/>
          </a:ln>
        </p:spPr>
      </p:cxnSp>
      <p:cxnSp>
        <p:nvCxnSpPr>
          <p:cNvPr id="256" name="Connector 11"/>
          <p:cNvCxnSpPr/>
          <p:nvPr/>
        </p:nvCxnSpPr>
        <p:spPr>
          <a:xfrm>
            <a:off x="5638680" y="5862240"/>
            <a:ext cx="914760" cy="360"/>
          </a:xfrm>
          <a:prstGeom prst="straightConnector1">
            <a:avLst/>
          </a:prstGeom>
          <a:ln w="10160">
            <a:solidFill>
              <a:srgbClr val="e2e7f0"/>
            </a:solidFill>
            <a:round/>
          </a:ln>
        </p:spPr>
      </p:cxnSp>
      <p:sp>
        <p:nvSpPr>
          <p:cNvPr id="257" name="AutoShape 12"/>
          <p:cNvSpPr/>
          <p:nvPr/>
        </p:nvSpPr>
        <p:spPr>
          <a:xfrm>
            <a:off x="2509560" y="3881160"/>
            <a:ext cx="7172640" cy="1800360"/>
          </a:xfrm>
          <a:prstGeom prst="rect">
            <a:avLst/>
          </a:prstGeom>
          <a:noFill/>
          <a:ln w="9525">
            <a:solidFill>
              <a:srgbClr val="ffffff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58" name="Picture 13" descr=""/>
          <p:cNvPicPr/>
          <p:nvPr/>
        </p:nvPicPr>
        <p:blipFill>
          <a:blip r:embed="rId2"/>
          <a:stretch/>
        </p:blipFill>
        <p:spPr>
          <a:xfrm>
            <a:off x="609480" y="609480"/>
            <a:ext cx="9720" cy="1218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9" name="Picture 14" descr=""/>
          <p:cNvPicPr/>
          <p:nvPr/>
        </p:nvPicPr>
        <p:blipFill>
          <a:blip r:embed="rId3"/>
          <a:stretch/>
        </p:blipFill>
        <p:spPr>
          <a:xfrm>
            <a:off x="11572200" y="5029200"/>
            <a:ext cx="9720" cy="1218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0" name="Picture 15" descr=""/>
          <p:cNvPicPr/>
          <p:nvPr/>
        </p:nvPicPr>
        <p:blipFill>
          <a:blip r:embed="rId4"/>
          <a:stretch/>
        </p:blipFill>
        <p:spPr>
          <a:xfrm>
            <a:off x="2514600" y="3886200"/>
            <a:ext cx="37800" cy="179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1" name="TextBox 16"/>
          <p:cNvSpPr/>
          <p:nvPr/>
        </p:nvSpPr>
        <p:spPr>
          <a:xfrm>
            <a:off x="2955240" y="1193760"/>
            <a:ext cx="6279840" cy="504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marL="2129760" defTabSz="914400">
              <a:lnSpc>
                <a:spcPts val="1171"/>
              </a:lnSpc>
              <a:tabLst>
                <a:tab algn="l" pos="0"/>
              </a:tabLst>
            </a:pPr>
            <a:r>
              <a:rPr b="1" lang="en" sz="1050" spc="26" strike="noStrike" u="none">
                <a:solidFill>
                  <a:srgbClr val="2a5eb2"/>
                </a:solidFill>
                <a:uFillTx/>
                <a:latin typeface="Times New Roman"/>
              </a:rPr>
              <a:t>F I N A L  S T A T E M E N T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284120" defTabSz="914400">
              <a:lnSpc>
                <a:spcPts val="10049"/>
              </a:lnSpc>
              <a:spcBef>
                <a:spcPts val="408"/>
              </a:spcBef>
              <a:tabLst>
                <a:tab algn="l" pos="0"/>
              </a:tabLst>
            </a:pPr>
            <a:r>
              <a:rPr b="1" lang="en-US" sz="9000" spc="-224" strike="noStrike" u="none">
                <a:solidFill>
                  <a:srgbClr val="1a1c1e"/>
                </a:solidFill>
                <a:uFillTx/>
                <a:latin typeface="Times New Roman"/>
              </a:rPr>
              <a:t>THANK</a:t>
            </a:r>
            <a:endParaRPr b="0" lang="en-US" sz="9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987560" defTabSz="914400">
              <a:lnSpc>
                <a:spcPts val="10049"/>
              </a:lnSpc>
              <a:tabLst>
                <a:tab algn="l" pos="0"/>
              </a:tabLst>
            </a:pPr>
            <a:r>
              <a:rPr b="1" lang="en-US" sz="9000" spc="-224" strike="noStrike" u="none">
                <a:solidFill>
                  <a:srgbClr val="2a5eb2"/>
                </a:solidFill>
                <a:uFillTx/>
                <a:latin typeface="Times New Roman"/>
              </a:rPr>
              <a:t>YOU</a:t>
            </a:r>
            <a:endParaRPr b="0" lang="en-US" sz="9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231920" defTabSz="914400">
              <a:lnSpc>
                <a:spcPts val="2010"/>
              </a:lnSpc>
              <a:spcBef>
                <a:spcPts val="4720"/>
              </a:spcBef>
              <a:tabLst>
                <a:tab algn="l" pos="0"/>
              </a:tabLst>
            </a:pPr>
            <a:r>
              <a:rPr b="1" lang="en-US" sz="1800" spc="45" strike="noStrike" u="none">
                <a:solidFill>
                  <a:srgbClr val="2a5eb2"/>
                </a:solidFill>
                <a:uFillTx/>
                <a:latin typeface="Times New Roman"/>
              </a:rPr>
              <a:t>SmartBridge — Let's Bridge the Gap.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ts val="1511"/>
              </a:lnSpc>
              <a:spcBef>
                <a:spcPts val="1689"/>
              </a:spcBef>
              <a:tabLst>
                <a:tab algn="l" pos="0"/>
              </a:tabLst>
            </a:pPr>
            <a:r>
              <a:rPr b="0" lang="en-US" sz="1350" spc="34" strike="noStrike" u="none">
                <a:solidFill>
                  <a:srgbClr val="1a1c1e"/>
                </a:solidFill>
                <a:uFillTx/>
                <a:latin typeface="Times New Roman"/>
              </a:rPr>
              <a:t>Empowering users with accessible, professional legal document workflows through</a:t>
            </a:r>
            <a:endParaRPr b="0" lang="en-US" sz="13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955080" defTabSz="914400">
              <a:lnSpc>
                <a:spcPts val="1511"/>
              </a:lnSpc>
              <a:spcBef>
                <a:spcPts val="740"/>
              </a:spcBef>
              <a:tabLst>
                <a:tab algn="l" pos="0"/>
              </a:tabLst>
            </a:pPr>
            <a:r>
              <a:rPr b="0" lang="en-US" sz="1350" spc="3" strike="noStrike" u="none">
                <a:solidFill>
                  <a:srgbClr val="1a1c1e"/>
                </a:solidFill>
                <a:uFillTx/>
                <a:latin typeface="Times New Roman"/>
              </a:rPr>
              <a:t>the fusion of technical precision and institutional authority.</a:t>
            </a:r>
            <a:endParaRPr b="0" lang="en-US" sz="13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1811160" defTabSz="914400">
              <a:lnSpc>
                <a:spcPts val="1001"/>
              </a:lnSpc>
              <a:spcBef>
                <a:spcPts val="6780"/>
              </a:spcBef>
              <a:tabLst>
                <a:tab algn="l" pos="0"/>
              </a:tabLst>
            </a:pPr>
            <a:r>
              <a:rPr b="0" lang="en-US" sz="900" spc="-23" strike="noStrike" u="none">
                <a:solidFill>
                  <a:srgbClr val="94a3b8"/>
                </a:solidFill>
                <a:uFillTx/>
                <a:latin typeface="Times New Roman"/>
              </a:rPr>
              <a:t>L E G A L E A S E  A I  F R A M E W O R K  ©  2 0 2 4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t>Benefits of LegalEase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latin typeface="Aptos"/>
              </a:defRPr>
            </a:pPr>
            <a:r>
              <a:t>How the platform improves the legal document creation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149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latin typeface="Aptos"/>
              </a:defRPr>
            </a:pPr>
            <a:r>
              <a:t>• Saves time by generating structured legal documents from user-provided details.</a:t>
            </a:r>
          </a:p>
          <a:p>
            <a:pPr>
              <a:spcAft>
                <a:spcPts val="1400"/>
              </a:spcAft>
              <a:defRPr sz="1800">
                <a:latin typeface="Aptos"/>
              </a:defRPr>
            </a:pPr>
            <a:r>
              <a:t>• Supports customizable and editable outputs before the final document is exported.</a:t>
            </a:r>
          </a:p>
          <a:p>
            <a:pPr>
              <a:spcAft>
                <a:spcPts val="1400"/>
              </a:spcAft>
              <a:defRPr sz="1800">
                <a:latin typeface="Aptos"/>
              </a:defRPr>
            </a:pPr>
            <a:r>
              <a:t>• Provides professional formatting in DOCX, PDF, and HTML preview formats.</a:t>
            </a:r>
          </a:p>
          <a:p>
            <a:pPr>
              <a:spcAft>
                <a:spcPts val="1400"/>
              </a:spcAft>
              <a:defRPr sz="1800">
                <a:latin typeface="Aptos"/>
              </a:defRPr>
            </a:pPr>
            <a:r>
              <a:t>• Connects a Streamlit frontend, FastAPI backend, and Gemini AI generation core.</a:t>
            </a:r>
          </a:p>
          <a:p>
            <a:pPr>
              <a:spcAft>
                <a:spcPts val="1400"/>
              </a:spcAft>
              <a:defRPr sz="1800">
                <a:latin typeface="Aptos"/>
              </a:defRPr>
            </a:pPr>
            <a:r>
              <a:t>• Supports practical scenarios such as employment contracts, NDAs, and lease agreements.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t>Future Enhancements &amp; 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latin typeface="Aptos"/>
              </a:defRPr>
            </a:pPr>
            <a:r>
              <a:t>Potential improvements for a more reliable production-ready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149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latin typeface="Aptos"/>
              </a:defRPr>
            </a:pPr>
            <a:r>
              <a:t>• Expand the library of legal document templates and supported scenarios.</a:t>
            </a:r>
          </a:p>
          <a:p>
            <a:pPr>
              <a:spcAft>
                <a:spcPts val="1400"/>
              </a:spcAft>
              <a:defRPr sz="1800">
                <a:latin typeface="Aptos"/>
              </a:defRPr>
            </a:pPr>
            <a:r>
              <a:t>• Add stronger validation for user inputs and generated clauses.</a:t>
            </a:r>
          </a:p>
          <a:p>
            <a:pPr>
              <a:spcAft>
                <a:spcPts val="1400"/>
              </a:spcAft>
              <a:defRPr sz="1800">
                <a:latin typeface="Aptos"/>
              </a:defRPr>
            </a:pPr>
            <a:r>
              <a:t>• Improve testing using diverse inputs, edge cases, and API/network failure conditions.</a:t>
            </a:r>
          </a:p>
          <a:p>
            <a:pPr>
              <a:spcAft>
                <a:spcPts val="1400"/>
              </a:spcAft>
              <a:defRPr sz="1800">
                <a:latin typeface="Aptos"/>
              </a:defRPr>
            </a:pPr>
            <a:r>
              <a:t>• Strengthen privacy and security controls for sensitive legal information and generated files.</a:t>
            </a:r>
          </a:p>
          <a:p>
            <a:pPr>
              <a:spcAft>
                <a:spcPts val="1400"/>
              </a:spcAft>
              <a:defRPr sz="1800">
                <a:latin typeface="Aptos"/>
              </a:defRPr>
            </a:pPr>
            <a:r>
              <a:t>• Provide a clear review step so important documents can be checked by a qualified legal professional.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LibreOfficeDev/24.8.7.2.0$Android_AARCH64 LibreOffice_project/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language>en-US</dc:language>
  <cp:lastModifiedBy/>
  <dcterms:modified xsi:type="dcterms:W3CDTF">2026-09-22T18:08:52Z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